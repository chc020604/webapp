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2" r:id="rId8"/>
    <p:sldId id="264" r:id="rId9"/>
    <p:sldId id="263" r:id="rId10"/>
    <p:sldId id="265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7" r:id="rId23"/>
    <p:sldId id="279" r:id="rId24"/>
    <p:sldId id="280" r:id="rId25"/>
    <p:sldId id="281" r:id="rId26"/>
    <p:sldId id="25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2121"/>
    <a:srgbClr val="171717"/>
    <a:srgbClr val="FFCCCC"/>
    <a:srgbClr val="FFCC66"/>
    <a:srgbClr val="5A595A"/>
    <a:srgbClr val="0099CC"/>
    <a:srgbClr val="6CB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4" autoAdjust="0"/>
    <p:restoredTop sz="94660"/>
  </p:normalViewPr>
  <p:slideViewPr>
    <p:cSldViewPr snapToGrid="0">
      <p:cViewPr varScale="1">
        <p:scale>
          <a:sx n="66" d="100"/>
          <a:sy n="66" d="100"/>
        </p:scale>
        <p:origin x="77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21:29:35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197 111 24575,'-1'-2'0,"-1"0"0,1 0 0,-1 1 0,0 0 0,0-1 0,0 1 0,0 0 0,0 0 0,0 0 0,0 0 0,0 0 0,0 0 0,-1 0 0,1 1 0,0 0 0,0-1 0,-1 1 0,1 0 0,0 0 0,-4 0 0,2 1 0,1 0 0,-1 0 0,1 0 0,0 1 0,0-1 0,0 1 0,0 0 0,0 0 0,0 0 0,0 0 0,0 0 0,-2 4 0,-3 3 0,1 0 0,0 0 0,1 0 0,0 1 0,1 0 0,0 0 0,-6 16 0,-2 19 0,1 2 0,2-1 0,3 1 0,2 1 0,1 0 0,3-1 0,7 71 0,-6-115 0,0 1 0,1 0 0,0 0 0,0-1 0,0 1 0,1 0 0,-1-1 0,1 1 0,0-1 0,0 0 0,0 1 0,0-1 0,0 0 0,1 0 0,4 3 0,-3-2 0,1 0 0,0-1 0,1 0 0,-1 0 0,1 0 0,-1-1 0,1 1 0,0-2 0,6 3 0,12 0 0,1-1 0,0-1 0,47-2 0,-45-1 0,-14 1 0,1 0 0,-1-2 0,0 0 0,1 0 0,-1-1 0,0-1 0,0 0 0,-1 0 0,21-11 0,-26 10 0,0 1 0,0-1 0,0-1 0,0 1 0,-1-1 0,0 0 0,0 0 0,-1-1 0,0 0 0,0 0 0,-1 0 0,1-1 0,-1 1 0,-1-1 0,0 0 0,3-10 0,-1-4 0,-1 0 0,0-1 0,-2 1 0,-1 0 0,-1-1 0,-1 1 0,-3-24 0,-1 15 0,-1-1 0,-1 1 0,-2 0 0,-16-36 0,19 52 14,-1 0-1,-1 0 0,0 1 0,-2 0 1,1 1-1,-1 0 0,-1 0 1,-13-12-1,16 18-119,0 1 0,-1 0 0,0 0 0,0 0 0,0 1 0,-1 1-1,0-1 1,1 2 0,-1-1 0,-1 1 0,1 1 0,0 0 0,-19-1 0,-9 2-6720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4BA64-6BB6-45F1-A537-CB521C51F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22E89B-EC38-351A-1E66-1F0C356AC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62EF4D-2667-1CEE-A652-012C9D65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F5402-3025-A305-0E63-199453D4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AAB50-6033-9A32-C173-0E94A625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594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72B04-BF17-405C-47C8-12A92221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3E24AB-CE87-98CD-C707-069BB0E58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8DB5B5-45CE-3C52-DDF4-05D731BD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C5891-740C-3E53-EEC0-8DF01E34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E34943-354D-82B3-528A-7D072880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63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F81DE-52EC-65C9-F52F-67C6DD2B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DAC43D-B966-1991-8A94-DFEFE9E61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DA9549-BBF0-30F4-3A74-6B8BC831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25F6B-2894-9D65-C8A2-BB6D3259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88065-D227-1992-BCBA-4404D2DA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68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4B286-09D7-9E74-5EF6-5B52117D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9D2CD9-CF18-C702-F09B-C1A1C1620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7B2C3C-FF69-06CC-4423-1C9B5E6CD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6AF83A-1B0E-5CDD-20C8-8EBE924E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95632B-36EC-C19C-38B7-F17F8140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0F39C0-E749-615E-EC64-F3CAD0F4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1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10420-1240-4F46-F3D4-D46E06C4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A3D45-BF00-455F-5114-BCEBE7B6C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ED7309-910D-AB18-4C25-5093669CA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B88470-C4FA-C345-1768-89904E565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EDF060-DF96-C878-3577-49BD003A7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E113ED-7EE3-2FC7-458C-3CF55AD7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2A5609-EEA4-E204-AE99-5A043F25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8CF56A-B73C-77B4-469B-68EE1CBD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70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CD43A-D091-DE14-1DF6-1127C186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47D41C-F7B3-4142-C14A-85386F9C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1169E1-0BBA-17F5-E8A1-93B343157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18EB4D-0A23-7638-376A-A095AA90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36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72E401-81BA-5DDD-3070-A9F3ED2B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C75A7C-A1FB-7A9D-FF3C-3E033C85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FADCB6-3EB6-2A9D-4BDA-E878E2F6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31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809C8-9733-A9AD-8EBA-5CF4F5A9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F359A-19DC-4CD7-3319-C74CDE626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814F8C-E885-010E-0F23-C0C9B1FE1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C329A5-CA0B-9963-3D63-23C0F385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B6AA0D-C425-213C-370D-5C1E5A80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C7C04B-35DD-2EAA-B032-BFFA68F9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97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96598-68F7-9799-B157-51D8954B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36D6C7-CF8F-FA6F-08D7-70B74C8F5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338C3A-BBE7-4D67-3B9C-BFC7646C2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847633-24A3-9232-1163-63BFF967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321717-01FF-E605-8949-52E362EA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A2D944-9179-184F-F74B-CC8D41C4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073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53C47-8041-199A-022E-684431C4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3F18C0-F96E-8081-56F1-E881D6A89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9928-E7D2-2AEC-C5BA-EF2988BF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4CF03-B780-283A-7734-D01884F6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EDEB5-95D5-C87A-A851-564E01A8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88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E21EFA-CC62-AFB2-C859-036B7E98D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C60085-0399-2F8D-2B38-AF9A69FCE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1853E-CC54-9D9C-939F-89057F30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5103C-FD05-8DFC-3F32-5759A78A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F36AF0-0FFE-D90C-9B4E-C8C9A8B5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75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27FB0E-DD04-EB44-44DE-20DB663B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A6BEC2-C50B-DB37-D344-8FA898884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7A3F4-7CFB-14B7-12A3-8141C4209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D6513-4293-4CD5-81CB-6F91038AF65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6B4D18-00B3-8A28-8DE8-0DCF1FE6C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45677-AB25-609E-488C-1374ACF14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0F303-ADF8-402F-9D6D-068254D4BC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64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kr/java/technologies/downloads/#jdk21-window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apis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grok.com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nbit.co.kr/channel/view.html?cmscode=CMS1970812808&amp;gad_source=1&amp;gad_campaignid=23518945342&amp;gbraid=0AAAAA_x2BewRbcu5-WpJcg4ROSe7CWo2M&amp;gclid=Cj0KCQjwzqXQBhD2ARIsAKrIeU9CgUvpFWkTmQjrQWz0TfKM-ifk22gKtzmUsFnsyUujZhNaddbY_-8aAhp9EALw_wcB" TargetMode="External"/><Relationship Id="rId2" Type="http://schemas.openxmlformats.org/officeDocument/2006/relationships/hyperlink" Target="https://www.codestates.com/blog/content/%EC%8A%A4%ED%94%84%EB%A7%81-%EC%8A%A4%ED%94%84%EB%A7%81%EB%B6%80%ED%8A%B8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いろいろな春のイメージのフレーム | かわいいフリー素材集 いらすとや">
            <a:extLst>
              <a:ext uri="{FF2B5EF4-FFF2-40B4-BE49-F238E27FC236}">
                <a16:creationId xmlns:a16="http://schemas.microsoft.com/office/drawing/2014/main" id="{FBCCA768-80B9-62C2-60E1-AE9D4AEB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35F137-22E6-7E55-6E98-0AE02EC17A21}"/>
              </a:ext>
            </a:extLst>
          </p:cNvPr>
          <p:cNvSpPr txBox="1"/>
          <p:nvPr/>
        </p:nvSpPr>
        <p:spPr>
          <a:xfrm>
            <a:off x="2159000" y="1262528"/>
            <a:ext cx="7874000" cy="240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5000" b="1" dirty="0"/>
              <a:t>            Boot</a:t>
            </a:r>
            <a:endParaRPr lang="en-US" altLang="ko-KR" sz="3000" b="1" dirty="0"/>
          </a:p>
          <a:p>
            <a:pPr algn="ctr">
              <a:lnSpc>
                <a:spcPct val="200000"/>
              </a:lnSpc>
            </a:pPr>
            <a:r>
              <a:rPr lang="en-US" altLang="ko-KR" sz="3000" b="1" dirty="0"/>
              <a:t>: </a:t>
            </a:r>
            <a:r>
              <a:rPr lang="ko-KR" altLang="en-US" sz="3000" b="1" dirty="0"/>
              <a:t>조건부 </a:t>
            </a:r>
            <a:r>
              <a:rPr lang="en-US" altLang="ko-KR" sz="3000" b="1" dirty="0"/>
              <a:t>N</a:t>
            </a:r>
            <a:r>
              <a:rPr lang="ko-KR" altLang="en-US" sz="3000" b="1" dirty="0"/>
              <a:t>빵 정산 플랫폼</a:t>
            </a:r>
            <a:endParaRPr lang="en-US" altLang="ko-KR" sz="5000" b="1" dirty="0"/>
          </a:p>
        </p:txBody>
      </p:sp>
      <p:pic>
        <p:nvPicPr>
          <p:cNvPr id="7" name="그림 6" descr="桜のキャラクター（春） | かわいいフリー素材集 いらすとや">
            <a:extLst>
              <a:ext uri="{FF2B5EF4-FFF2-40B4-BE49-F238E27FC236}">
                <a16:creationId xmlns:a16="http://schemas.microsoft.com/office/drawing/2014/main" id="{0DC53078-5E8E-DEF1-3061-D677B4A18A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49540" y="831445"/>
            <a:ext cx="1899557" cy="1899557"/>
          </a:xfrm>
          <a:prstGeom prst="rect">
            <a:avLst/>
          </a:prstGeom>
        </p:spPr>
      </p:pic>
      <p:pic>
        <p:nvPicPr>
          <p:cNvPr id="8" name="그림 7" descr="春 | かわいいフリー素材集 いらすとや">
            <a:extLst>
              <a:ext uri="{FF2B5EF4-FFF2-40B4-BE49-F238E27FC236}">
                <a16:creationId xmlns:a16="http://schemas.microsoft.com/office/drawing/2014/main" id="{EF568A7F-303A-898D-B8A1-EB9A1A992B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8831035" y="3535184"/>
            <a:ext cx="2794907" cy="2794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E1D9EF-A265-D943-C641-6B806299AA70}"/>
              </a:ext>
            </a:extLst>
          </p:cNvPr>
          <p:cNvSpPr txBox="1"/>
          <p:nvPr/>
        </p:nvSpPr>
        <p:spPr>
          <a:xfrm>
            <a:off x="2159000" y="4615328"/>
            <a:ext cx="787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2021752038 </a:t>
            </a:r>
            <a:r>
              <a:rPr lang="ko-KR" altLang="en-US" sz="2000" b="1" dirty="0" err="1"/>
              <a:t>조현창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/ 2023958001 </a:t>
            </a:r>
            <a:r>
              <a:rPr lang="ko-KR" altLang="en-US" sz="2000" b="1" dirty="0"/>
              <a:t>강예은 </a:t>
            </a:r>
            <a:r>
              <a:rPr lang="en-US" altLang="ko-KR" sz="2000" b="1" dirty="0"/>
              <a:t>/ 2024964049 </a:t>
            </a:r>
            <a:r>
              <a:rPr lang="ko-KR" altLang="en-US" sz="2000" b="1" dirty="0"/>
              <a:t>황주은</a:t>
            </a:r>
            <a:endParaRPr lang="en-US" altLang="ko-KR" sz="2000" b="1" dirty="0"/>
          </a:p>
        </p:txBody>
      </p:sp>
      <p:pic>
        <p:nvPicPr>
          <p:cNvPr id="10" name="그림 9" descr="SPRING・SUMMER・AUTUMN・WINTER」のイラスト文字 | かわいいフリー ...">
            <a:extLst>
              <a:ext uri="{FF2B5EF4-FFF2-40B4-BE49-F238E27FC236}">
                <a16:creationId xmlns:a16="http://schemas.microsoft.com/office/drawing/2014/main" id="{5EE96631-554F-D523-B8F8-648B2BA227A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3849" y="1767552"/>
            <a:ext cx="3148496" cy="102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0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A3DF-6BAA-0C6F-A176-FE02A060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0730E7-9EED-043A-76E0-E77BBD7D1077}"/>
              </a:ext>
            </a:extLst>
          </p:cNvPr>
          <p:cNvSpPr txBox="1"/>
          <p:nvPr/>
        </p:nvSpPr>
        <p:spPr>
          <a:xfrm>
            <a:off x="424329" y="772363"/>
            <a:ext cx="7874000" cy="548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3000" b="1" dirty="0"/>
              <a:t>Spring Boot </a:t>
            </a:r>
            <a:r>
              <a:rPr lang="ko-KR" altLang="en-US" sz="3000" b="1" dirty="0"/>
              <a:t>란 </a:t>
            </a:r>
            <a:r>
              <a:rPr lang="en-US" altLang="ko-KR" sz="3000" b="1" dirty="0"/>
              <a:t>?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ko-KR" sz="3000" b="1" dirty="0"/>
              <a:t>Spring</a:t>
            </a:r>
            <a:r>
              <a:rPr lang="ko-KR" altLang="en-US" sz="3000" b="1" dirty="0"/>
              <a:t>과 </a:t>
            </a:r>
            <a:r>
              <a:rPr lang="ko-KR" altLang="en-US" sz="3000" b="1" dirty="0" err="1"/>
              <a:t>안티그래비티</a:t>
            </a:r>
            <a:endParaRPr lang="en-US" altLang="ko-KR" sz="3000" b="1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3000" b="1" dirty="0"/>
              <a:t>협업 과정</a:t>
            </a:r>
            <a:endParaRPr lang="en-US" altLang="ko-KR" sz="3000" b="1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3000" b="1" dirty="0" err="1"/>
              <a:t>백엔드</a:t>
            </a:r>
            <a:r>
              <a:rPr lang="ko-KR" altLang="en-US" sz="3000" b="1" dirty="0"/>
              <a:t> 개발 과정</a:t>
            </a:r>
            <a:endParaRPr lang="en-US" altLang="ko-KR" sz="3000" b="1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3000" b="1" dirty="0"/>
              <a:t>프론트 개발 과정 및 연결 과정</a:t>
            </a:r>
            <a:endParaRPr lang="en-US" altLang="ko-KR" sz="3000" b="1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ko-KR" altLang="en-US" sz="3000" b="1" dirty="0"/>
              <a:t>플랫폼 시연</a:t>
            </a:r>
            <a:endParaRPr lang="en-US" altLang="ko-KR" sz="3000" b="1" dirty="0"/>
          </a:p>
        </p:txBody>
      </p:sp>
      <p:pic>
        <p:nvPicPr>
          <p:cNvPr id="3" name="그림 2" descr="先生のイラスト（男性） | かわいいフリー素材集 いらすとや">
            <a:extLst>
              <a:ext uri="{FF2B5EF4-FFF2-40B4-BE49-F238E27FC236}">
                <a16:creationId xmlns:a16="http://schemas.microsoft.com/office/drawing/2014/main" id="{6B425BCF-65D2-71A8-BC46-650596DD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02" y="961712"/>
            <a:ext cx="3774043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78053F-B115-4EFD-E848-967AC3E673DE}"/>
              </a:ext>
            </a:extLst>
          </p:cNvPr>
          <p:cNvSpPr txBox="1"/>
          <p:nvPr/>
        </p:nvSpPr>
        <p:spPr>
          <a:xfrm>
            <a:off x="424329" y="263870"/>
            <a:ext cx="2151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96147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D4048-6B44-A49B-3A05-062975C0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A391194D-A088-D859-CCCE-10AFC21C5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218388"/>
              </p:ext>
            </p:extLst>
          </p:nvPr>
        </p:nvGraphicFramePr>
        <p:xfrm>
          <a:off x="5008106" y="2145685"/>
          <a:ext cx="6834946" cy="142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734">
                  <a:extLst>
                    <a:ext uri="{9D8B030D-6E8A-4147-A177-3AD203B41FA5}">
                      <a16:colId xmlns:a16="http://schemas.microsoft.com/office/drawing/2014/main" val="2700845446"/>
                    </a:ext>
                  </a:extLst>
                </a:gridCol>
                <a:gridCol w="5503212">
                  <a:extLst>
                    <a:ext uri="{9D8B030D-6E8A-4147-A177-3AD203B41FA5}">
                      <a16:colId xmlns:a16="http://schemas.microsoft.com/office/drawing/2014/main" val="1299073137"/>
                    </a:ext>
                  </a:extLst>
                </a:gridCol>
              </a:tblGrid>
              <a:tr h="47461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33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88095"/>
                  </a:ext>
                </a:extLst>
              </a:tr>
              <a:tr h="47461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33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167711"/>
                  </a:ext>
                </a:extLst>
              </a:tr>
              <a:tr h="47461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33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377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C353AF-4537-B4AF-2CA6-6A73755C2270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Spring Boot </a:t>
            </a:r>
            <a:r>
              <a:rPr lang="ko-KR" altLang="en-US" sz="2000" b="1" dirty="0"/>
              <a:t>란 </a:t>
            </a:r>
            <a:r>
              <a:rPr lang="en-US" altLang="ko-KR" sz="2000" dirty="0"/>
              <a:t>(</a:t>
            </a:r>
            <a:r>
              <a:rPr lang="ko-KR" altLang="en-US" sz="2000" b="1" dirty="0">
                <a:highlight>
                  <a:srgbClr val="FFFF00"/>
                </a:highlight>
              </a:rPr>
              <a:t>정의</a:t>
            </a:r>
            <a:r>
              <a:rPr lang="en-US" altLang="ko-KR" sz="2000" dirty="0"/>
              <a:t>,</a:t>
            </a:r>
            <a:r>
              <a:rPr lang="en-US" altLang="ko-KR" sz="2000" b="1" dirty="0"/>
              <a:t> </a:t>
            </a:r>
            <a:r>
              <a:rPr lang="ko-KR" altLang="en-US" sz="2000" dirty="0"/>
              <a:t>특징</a:t>
            </a:r>
            <a:r>
              <a:rPr lang="en-US" altLang="ko-KR" sz="2000" dirty="0"/>
              <a:t>, </a:t>
            </a:r>
            <a:r>
              <a:rPr lang="ko-KR" altLang="en-US" sz="2000" dirty="0"/>
              <a:t>사용 이유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3F357-7672-A959-3171-77995844FA55}"/>
              </a:ext>
            </a:extLst>
          </p:cNvPr>
          <p:cNvSpPr txBox="1"/>
          <p:nvPr/>
        </p:nvSpPr>
        <p:spPr>
          <a:xfrm>
            <a:off x="5008108" y="1188015"/>
            <a:ext cx="623794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/>
              <a:t>엔터프라이즈용 </a:t>
            </a:r>
            <a:r>
              <a:rPr lang="en-US" altLang="ko-KR" sz="1900" b="1" dirty="0"/>
              <a:t>Java </a:t>
            </a:r>
            <a:r>
              <a:rPr lang="ko-KR" altLang="en-US" sz="1900" b="1" dirty="0"/>
              <a:t>애플리케이션 개발을 편하게 </a:t>
            </a:r>
            <a:r>
              <a:rPr lang="ko-KR" altLang="en-US" sz="1900" b="1" dirty="0" err="1"/>
              <a:t>해줌</a:t>
            </a:r>
            <a:endParaRPr lang="ko-KR" altLang="en-US" sz="19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3444432-44A3-CD83-CE3D-EC9BC7DFC3F7}"/>
              </a:ext>
            </a:extLst>
          </p:cNvPr>
          <p:cNvCxnSpPr>
            <a:cxnSpLocks/>
          </p:cNvCxnSpPr>
          <p:nvPr/>
        </p:nvCxnSpPr>
        <p:spPr>
          <a:xfrm>
            <a:off x="5054408" y="1607365"/>
            <a:ext cx="3895795" cy="0"/>
          </a:xfrm>
          <a:prstGeom prst="line">
            <a:avLst/>
          </a:prstGeom>
          <a:ln w="28575">
            <a:solidFill>
              <a:srgbClr val="6CB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2E0AB859-6278-A4EA-9398-13B7CC87A60E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4995983" y="1662262"/>
            <a:ext cx="320072" cy="173104"/>
          </a:xfrm>
          <a:prstGeom prst="bentConnector2">
            <a:avLst/>
          </a:prstGeom>
          <a:ln w="28575">
            <a:solidFill>
              <a:srgbClr val="6CB3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그림 21" descr="스프링과 스프링부트(Spring Boot)ㅣ정의, 특징, 사용 이유, 생성 방법">
            <a:extLst>
              <a:ext uri="{FF2B5EF4-FFF2-40B4-BE49-F238E27FC236}">
                <a16:creationId xmlns:a16="http://schemas.microsoft.com/office/drawing/2014/main" id="{272BEFD0-EB91-A7B3-9181-DA469D8572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94" t="20388" r="20588" b="25628"/>
          <a:stretch>
            <a:fillRect/>
          </a:stretch>
        </p:blipFill>
        <p:spPr>
          <a:xfrm>
            <a:off x="237188" y="4036505"/>
            <a:ext cx="4337538" cy="1763692"/>
          </a:xfrm>
          <a:prstGeom prst="rect">
            <a:avLst/>
          </a:prstGeom>
        </p:spPr>
      </p:pic>
      <p:pic>
        <p:nvPicPr>
          <p:cNvPr id="24" name="그림 23" descr="스프링 프레임워크">
            <a:extLst>
              <a:ext uri="{FF2B5EF4-FFF2-40B4-BE49-F238E27FC236}">
                <a16:creationId xmlns:a16="http://schemas.microsoft.com/office/drawing/2014/main" id="{C52082F0-23C1-3B66-6BDA-72AAEE1DB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85" t="30161" r="18561" b="33348"/>
          <a:stretch>
            <a:fillRect/>
          </a:stretch>
        </p:blipFill>
        <p:spPr>
          <a:xfrm>
            <a:off x="237188" y="1577388"/>
            <a:ext cx="4475748" cy="123043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D234AF-C110-A46B-5D09-B1F441B5918D}"/>
              </a:ext>
            </a:extLst>
          </p:cNvPr>
          <p:cNvSpPr txBox="1"/>
          <p:nvPr/>
        </p:nvSpPr>
        <p:spPr>
          <a:xfrm>
            <a:off x="5242571" y="1754961"/>
            <a:ext cx="3519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</a:rPr>
              <a:t>수백만 명이 동시에 쓰는 거대한 프로그램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6396C-1CCD-EE9D-B208-3E2AF2D75713}"/>
              </a:ext>
            </a:extLst>
          </p:cNvPr>
          <p:cNvSpPr txBox="1"/>
          <p:nvPr/>
        </p:nvSpPr>
        <p:spPr>
          <a:xfrm>
            <a:off x="5008106" y="2200635"/>
            <a:ext cx="132157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solidFill>
                  <a:schemeClr val="bg1"/>
                </a:solidFill>
              </a:rPr>
              <a:t>오픈소스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268832-1E0D-2805-FC6C-0A352790C9D4}"/>
              </a:ext>
            </a:extLst>
          </p:cNvPr>
          <p:cNvSpPr txBox="1"/>
          <p:nvPr/>
        </p:nvSpPr>
        <p:spPr>
          <a:xfrm>
            <a:off x="5008106" y="2668303"/>
            <a:ext cx="132157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>
                <a:solidFill>
                  <a:schemeClr val="bg1"/>
                </a:solidFill>
              </a:rPr>
              <a:t>경량급</a:t>
            </a:r>
            <a:endParaRPr lang="ko-KR" altLang="en-US" sz="1900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4CEB5F-72FA-9092-C01D-F4A305219E4C}"/>
              </a:ext>
            </a:extLst>
          </p:cNvPr>
          <p:cNvSpPr txBox="1"/>
          <p:nvPr/>
        </p:nvSpPr>
        <p:spPr>
          <a:xfrm>
            <a:off x="5008106" y="3085171"/>
            <a:ext cx="13215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</a:rPr>
              <a:t>애플리케이션</a:t>
            </a:r>
            <a:endParaRPr lang="en-US" altLang="ko-KR" sz="13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300" b="1" dirty="0">
                <a:solidFill>
                  <a:schemeClr val="bg1"/>
                </a:solidFill>
              </a:rPr>
              <a:t>프레임워크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DC1BD1-6D73-1F0A-0F2E-718951A4554C}"/>
              </a:ext>
            </a:extLst>
          </p:cNvPr>
          <p:cNvSpPr txBox="1"/>
          <p:nvPr/>
        </p:nvSpPr>
        <p:spPr>
          <a:xfrm>
            <a:off x="6329680" y="2237561"/>
            <a:ext cx="5513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오픈소스 프레임워크이지만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안정적인 개발과 개선 보장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09D675-8714-CE9D-83AB-5BE92F4D3FF6}"/>
              </a:ext>
            </a:extLst>
          </p:cNvPr>
          <p:cNvSpPr txBox="1"/>
          <p:nvPr/>
        </p:nvSpPr>
        <p:spPr>
          <a:xfrm>
            <a:off x="6329680" y="2601819"/>
            <a:ext cx="55133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b="1" dirty="0"/>
              <a:t>기존에 스프링 대신 사용하던 기술들과 비교하여</a:t>
            </a:r>
            <a:r>
              <a:rPr lang="en-US" altLang="ko-KR" sz="1300" b="1" dirty="0"/>
              <a:t>,</a:t>
            </a:r>
          </a:p>
          <a:p>
            <a:pPr algn="ctr"/>
            <a:r>
              <a:rPr lang="ko-KR" altLang="en-US" sz="1300" b="1" dirty="0"/>
              <a:t>스프링을 사용했을 때에 개발자가 작성해야 할 코드가 상대적으로 단순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33D762-93E3-8F24-6B9D-48B1A9A9E071}"/>
              </a:ext>
            </a:extLst>
          </p:cNvPr>
          <p:cNvSpPr txBox="1"/>
          <p:nvPr/>
        </p:nvSpPr>
        <p:spPr>
          <a:xfrm>
            <a:off x="6329680" y="3073344"/>
            <a:ext cx="55133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b="1" dirty="0"/>
              <a:t>애플리케이션을 개발하는 데에 있어 필요한 모든 업무 분야 및</a:t>
            </a:r>
            <a:endParaRPr lang="en-US" altLang="ko-KR" sz="1300" b="1" dirty="0"/>
          </a:p>
          <a:p>
            <a:pPr algn="ctr"/>
            <a:r>
              <a:rPr lang="ko-KR" altLang="en-US" sz="1300" b="1" dirty="0"/>
              <a:t>모든 기술과 관련된 코드들의 뼈대를 제공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C6C4B1-7760-FCE6-699C-04F4733FCB43}"/>
              </a:ext>
            </a:extLst>
          </p:cNvPr>
          <p:cNvSpPr txBox="1"/>
          <p:nvPr/>
        </p:nvSpPr>
        <p:spPr>
          <a:xfrm>
            <a:off x="5069068" y="4400730"/>
            <a:ext cx="683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자바 기반의 오픈 소스 웹 애플리케이션 프레임워크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E02DC4-E339-C1F4-B3B5-0852E9CC87D1}"/>
              </a:ext>
            </a:extLst>
          </p:cNvPr>
          <p:cNvSpPr txBox="1"/>
          <p:nvPr/>
        </p:nvSpPr>
        <p:spPr>
          <a:xfrm>
            <a:off x="5069068" y="4996059"/>
            <a:ext cx="6834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기존 스프링의 초기 설정 장벽을 크게 낮춰</a:t>
            </a:r>
            <a:endParaRPr lang="en-US" altLang="ko-KR" sz="1500" b="1" dirty="0"/>
          </a:p>
          <a:p>
            <a:r>
              <a:rPr lang="ko-KR" altLang="en-US" sz="1500" b="1" dirty="0"/>
              <a:t>개발자가 비즈니스 로직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기능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개발에만 집중할 수 있도록 함</a:t>
            </a:r>
          </a:p>
        </p:txBody>
      </p:sp>
    </p:spTree>
    <p:extLst>
      <p:ext uri="{BB962C8B-B14F-4D97-AF65-F5344CB8AC3E}">
        <p14:creationId xmlns:p14="http://schemas.microsoft.com/office/powerpoint/2010/main" val="311297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1F56F-0A7A-61C8-33E6-BAB2CC00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鉛筆を持った動物の伝言メモのテンプレート | かわいいフリー素材集 ...">
            <a:extLst>
              <a:ext uri="{FF2B5EF4-FFF2-40B4-BE49-F238E27FC236}">
                <a16:creationId xmlns:a16="http://schemas.microsoft.com/office/drawing/2014/main" id="{779FFCDC-21A4-3D90-0447-A84CFC88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62" r="49770"/>
          <a:stretch>
            <a:fillRect/>
          </a:stretch>
        </p:blipFill>
        <p:spPr>
          <a:xfrm>
            <a:off x="6111588" y="1756296"/>
            <a:ext cx="2842205" cy="397509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7936ED-B8D2-F8D0-204D-48484FF079D2}"/>
              </a:ext>
            </a:extLst>
          </p:cNvPr>
          <p:cNvSpPr/>
          <p:nvPr/>
        </p:nvSpPr>
        <p:spPr>
          <a:xfrm>
            <a:off x="7998106" y="4456253"/>
            <a:ext cx="740780" cy="335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鉛筆を持った動物の伝言メモのテンプレート | かわいいフリー素材集 ...">
            <a:extLst>
              <a:ext uri="{FF2B5EF4-FFF2-40B4-BE49-F238E27FC236}">
                <a16:creationId xmlns:a16="http://schemas.microsoft.com/office/drawing/2014/main" id="{21291543-6EAE-7988-AA11-D477DD43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49769" b="50262"/>
          <a:stretch>
            <a:fillRect/>
          </a:stretch>
        </p:blipFill>
        <p:spPr>
          <a:xfrm>
            <a:off x="190439" y="1732443"/>
            <a:ext cx="2842205" cy="3975096"/>
          </a:xfrm>
          <a:prstGeom prst="rect">
            <a:avLst/>
          </a:prstGeom>
        </p:spPr>
      </p:pic>
      <p:pic>
        <p:nvPicPr>
          <p:cNvPr id="11" name="그림 10" descr="鉛筆を持った動物の伝言メモのテンプレート | かわいいフリー素材集 ...">
            <a:extLst>
              <a:ext uri="{FF2B5EF4-FFF2-40B4-BE49-F238E27FC236}">
                <a16:creationId xmlns:a16="http://schemas.microsoft.com/office/drawing/2014/main" id="{94F455ED-7A23-18B0-21C8-32BFB1BC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0" b="50262"/>
          <a:stretch>
            <a:fillRect/>
          </a:stretch>
        </p:blipFill>
        <p:spPr>
          <a:xfrm>
            <a:off x="3148028" y="1732443"/>
            <a:ext cx="2842205" cy="3975096"/>
          </a:xfrm>
          <a:prstGeom prst="rect">
            <a:avLst/>
          </a:prstGeom>
        </p:spPr>
      </p:pic>
      <p:pic>
        <p:nvPicPr>
          <p:cNvPr id="13" name="그림 12" descr="鉛筆を持った動物の伝言メモのテンプレート | かわいいフリー素材集 ...">
            <a:extLst>
              <a:ext uri="{FF2B5EF4-FFF2-40B4-BE49-F238E27FC236}">
                <a16:creationId xmlns:a16="http://schemas.microsoft.com/office/drawing/2014/main" id="{F7792F33-8E4A-CB84-0D74-93AD66E7A4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0" t="50262"/>
          <a:stretch>
            <a:fillRect/>
          </a:stretch>
        </p:blipFill>
        <p:spPr>
          <a:xfrm>
            <a:off x="9069177" y="1732443"/>
            <a:ext cx="2842205" cy="3975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F05425-BECF-E8D6-07B2-38698F037919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Spring Boot </a:t>
            </a:r>
            <a:r>
              <a:rPr lang="ko-KR" altLang="en-US" sz="2000" b="1" dirty="0"/>
              <a:t>란 </a:t>
            </a:r>
            <a:r>
              <a:rPr lang="en-US" altLang="ko-KR" sz="2000" dirty="0"/>
              <a:t>(</a:t>
            </a:r>
            <a:r>
              <a:rPr lang="ko-KR" altLang="en-US" sz="2000" dirty="0"/>
              <a:t>정의</a:t>
            </a:r>
            <a:r>
              <a:rPr lang="en-US" altLang="ko-KR" sz="2000" dirty="0"/>
              <a:t>,</a:t>
            </a:r>
            <a:r>
              <a:rPr lang="en-US" altLang="ko-KR" sz="2000" b="1" dirty="0"/>
              <a:t> </a:t>
            </a:r>
            <a:r>
              <a:rPr lang="ko-KR" altLang="en-US" sz="2000" b="1" dirty="0">
                <a:highlight>
                  <a:srgbClr val="FFFF00"/>
                </a:highlight>
              </a:rPr>
              <a:t>특징</a:t>
            </a:r>
            <a:r>
              <a:rPr lang="en-US" altLang="ko-KR" sz="2000" dirty="0"/>
              <a:t>, </a:t>
            </a:r>
            <a:r>
              <a:rPr lang="ko-KR" altLang="en-US" sz="2000" dirty="0"/>
              <a:t>사용 이유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CD5C1-157E-07A0-2DD0-F02A343B92F4}"/>
              </a:ext>
            </a:extLst>
          </p:cNvPr>
          <p:cNvSpPr txBox="1"/>
          <p:nvPr/>
        </p:nvSpPr>
        <p:spPr>
          <a:xfrm>
            <a:off x="3329525" y="1791667"/>
            <a:ext cx="2479210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자동 구성</a:t>
            </a:r>
            <a:endParaRPr lang="en-US" altLang="ko-KR" sz="2300" b="1" dirty="0"/>
          </a:p>
          <a:p>
            <a:pPr algn="ctr"/>
            <a:r>
              <a:rPr lang="en-US" altLang="ko-KR" sz="1500" dirty="0"/>
              <a:t>(Auto Configuration)</a:t>
            </a:r>
            <a:endParaRPr lang="ko-KR" altLang="en-US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0D044-CC16-B0D5-3C83-E44B3C4D7C44}"/>
              </a:ext>
            </a:extLst>
          </p:cNvPr>
          <p:cNvSpPr txBox="1"/>
          <p:nvPr/>
        </p:nvSpPr>
        <p:spPr>
          <a:xfrm>
            <a:off x="526674" y="1907083"/>
            <a:ext cx="2163764" cy="4462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내장 서버</a:t>
            </a:r>
            <a:endParaRPr lang="ko-KR" altLang="en-US" sz="2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D480B-A453-F0FF-628B-6E4B46338CE8}"/>
              </a:ext>
            </a:extLst>
          </p:cNvPr>
          <p:cNvSpPr txBox="1"/>
          <p:nvPr/>
        </p:nvSpPr>
        <p:spPr>
          <a:xfrm>
            <a:off x="6418857" y="1895508"/>
            <a:ext cx="2180614" cy="4462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/>
              <a:t>Starter </a:t>
            </a:r>
            <a:r>
              <a:rPr lang="ko-KR" altLang="en-US" sz="2300" b="1" dirty="0"/>
              <a:t>의존성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FCEA4-4730-A075-1BAA-C101062FDD0A}"/>
              </a:ext>
            </a:extLst>
          </p:cNvPr>
          <p:cNvSpPr txBox="1"/>
          <p:nvPr/>
        </p:nvSpPr>
        <p:spPr>
          <a:xfrm>
            <a:off x="9387069" y="1802596"/>
            <a:ext cx="2206420" cy="6771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운영 기능</a:t>
            </a:r>
            <a:endParaRPr lang="en-US" altLang="ko-KR" sz="2300" b="1" dirty="0"/>
          </a:p>
          <a:p>
            <a:pPr algn="ctr"/>
            <a:r>
              <a:rPr lang="en-US" altLang="ko-KR" sz="1500" dirty="0"/>
              <a:t>(Actuator)</a:t>
            </a:r>
            <a:endParaRPr lang="ko-KR" alt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6763F-8926-1B38-50C7-409238C8D35A}"/>
              </a:ext>
            </a:extLst>
          </p:cNvPr>
          <p:cNvSpPr txBox="1"/>
          <p:nvPr/>
        </p:nvSpPr>
        <p:spPr>
          <a:xfrm>
            <a:off x="459055" y="2545617"/>
            <a:ext cx="235359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700" b="1" dirty="0"/>
              <a:t>Tomcat, Jetty </a:t>
            </a:r>
            <a:r>
              <a:rPr lang="ko-KR" altLang="en-US" sz="1700" b="1" dirty="0"/>
              <a:t>같은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웹서버가 프레임워크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내부에 기본적으로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내장되어 있음</a:t>
            </a:r>
            <a:r>
              <a:rPr lang="en-US" altLang="ko-KR" sz="1700" b="1" dirty="0"/>
              <a:t>.</a:t>
            </a:r>
          </a:p>
          <a:p>
            <a:pPr algn="ctr"/>
            <a:r>
              <a:rPr lang="ko-KR" altLang="en-US" sz="1700" b="1" dirty="0"/>
              <a:t>별도의 서버 설치나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연동할 필요 없이</a:t>
            </a:r>
            <a:endParaRPr lang="en-US" altLang="ko-KR" sz="1700" b="1" dirty="0"/>
          </a:p>
          <a:p>
            <a:pPr algn="ctr"/>
            <a:r>
              <a:rPr lang="ko-KR" altLang="en-US" sz="1700" b="1" dirty="0" err="1"/>
              <a:t>빌드된</a:t>
            </a:r>
            <a:r>
              <a:rPr lang="ko-KR" altLang="en-US" sz="1700" b="1" dirty="0"/>
              <a:t> </a:t>
            </a:r>
            <a:r>
              <a:rPr lang="en-US" altLang="ko-KR" sz="1700" b="1" dirty="0"/>
              <a:t>jar </a:t>
            </a:r>
            <a:r>
              <a:rPr lang="ko-KR" altLang="en-US" sz="1700" b="1" dirty="0" err="1"/>
              <a:t>파일하나만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실행하면 바로</a:t>
            </a:r>
            <a:endParaRPr lang="en-US" altLang="ko-KR" sz="1700" b="1" dirty="0"/>
          </a:p>
          <a:p>
            <a:pPr algn="ctr"/>
            <a:r>
              <a:rPr lang="ko-KR" altLang="en-US" sz="1700" b="1" dirty="0"/>
              <a:t>웹서비스 구동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87CF7E-1E01-78CD-916A-1AC2867042F1}"/>
              </a:ext>
            </a:extLst>
          </p:cNvPr>
          <p:cNvSpPr txBox="1"/>
          <p:nvPr/>
        </p:nvSpPr>
        <p:spPr>
          <a:xfrm>
            <a:off x="3380757" y="2568767"/>
            <a:ext cx="2464535" cy="200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700" b="1" dirty="0"/>
              <a:t>개발자가 추가한</a:t>
            </a:r>
            <a:endParaRPr lang="en-US" altLang="ko-KR" sz="1700" b="1" dirty="0"/>
          </a:p>
          <a:p>
            <a:pPr algn="ctr">
              <a:lnSpc>
                <a:spcPct val="150000"/>
              </a:lnSpc>
            </a:pPr>
            <a:r>
              <a:rPr lang="ko-KR" altLang="en-US" sz="1700" b="1" dirty="0"/>
              <a:t>라이브러리를 바탕으로</a:t>
            </a:r>
            <a:endParaRPr lang="en-US" altLang="ko-KR" sz="1700" b="1" dirty="0"/>
          </a:p>
          <a:p>
            <a:pPr algn="ctr">
              <a:lnSpc>
                <a:spcPct val="150000"/>
              </a:lnSpc>
            </a:pPr>
            <a:r>
              <a:rPr lang="ko-KR" altLang="en-US" sz="1700" b="1" dirty="0" err="1"/>
              <a:t>스프링부트가</a:t>
            </a:r>
            <a:r>
              <a:rPr lang="ko-KR" altLang="en-US" sz="1700" b="1" dirty="0"/>
              <a:t> 알아서</a:t>
            </a:r>
            <a:endParaRPr lang="en-US" altLang="ko-KR" sz="1700" b="1" dirty="0"/>
          </a:p>
          <a:p>
            <a:pPr algn="ctr">
              <a:lnSpc>
                <a:spcPct val="150000"/>
              </a:lnSpc>
            </a:pPr>
            <a:r>
              <a:rPr lang="ko-KR" altLang="en-US" sz="1700" b="1" dirty="0"/>
              <a:t>최적의 기본 설정을</a:t>
            </a:r>
            <a:endParaRPr lang="en-US" altLang="ko-KR" sz="1700" b="1" dirty="0"/>
          </a:p>
          <a:p>
            <a:pPr algn="ctr">
              <a:lnSpc>
                <a:spcPct val="150000"/>
              </a:lnSpc>
            </a:pPr>
            <a:r>
              <a:rPr lang="ko-KR" altLang="en-US" sz="1700" b="1" dirty="0"/>
              <a:t>자동으로 세팅</a:t>
            </a:r>
            <a:endParaRPr lang="en-US" altLang="ko-KR" sz="17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43BEF-0E77-E6BC-E823-C9D4E3A17595}"/>
              </a:ext>
            </a:extLst>
          </p:cNvPr>
          <p:cNvSpPr txBox="1"/>
          <p:nvPr/>
        </p:nvSpPr>
        <p:spPr>
          <a:xfrm>
            <a:off x="6323572" y="2522467"/>
            <a:ext cx="2464535" cy="263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/>
              <a:t>라이브러리의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버전 충돌을 고민할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필요가 없음</a:t>
            </a:r>
            <a:r>
              <a:rPr lang="en-US" altLang="ko-KR" sz="1600" b="1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/>
              <a:t>목적에 맞는 </a:t>
            </a:r>
            <a:r>
              <a:rPr lang="ko-KR" altLang="en-US" sz="1600" b="1" dirty="0" err="1"/>
              <a:t>스타터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ko-KR" altLang="en-US" sz="1600" b="1" dirty="0"/>
              <a:t>패키지 하나만 선언하면</a:t>
            </a:r>
            <a:endParaRPr lang="en-US" altLang="ko-KR" sz="1600" b="1" dirty="0"/>
          </a:p>
          <a:p>
            <a:pPr algn="ctr">
              <a:lnSpc>
                <a:spcPct val="150000"/>
              </a:lnSpc>
            </a:pPr>
            <a:r>
              <a:rPr lang="ko-KR" altLang="en-US" sz="1600" b="1" dirty="0"/>
              <a:t>호환성이 검증된 라이브러리들을 세트로 한번에 가져옴</a:t>
            </a:r>
            <a:endParaRPr lang="en-US" altLang="ko-KR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E1007-A8F9-7F75-1663-6D9766F19C95}"/>
              </a:ext>
            </a:extLst>
          </p:cNvPr>
          <p:cNvSpPr txBox="1"/>
          <p:nvPr/>
        </p:nvSpPr>
        <p:spPr>
          <a:xfrm>
            <a:off x="9315886" y="2442446"/>
            <a:ext cx="2464535" cy="2476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운영 환경에서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애플리케이션의 내부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상태를 모니터링하고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상호작용할 수 있는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기능을 제공함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136116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C7250-92B6-5712-7A6B-56A5AE43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별: 꼭짓점 24개 20">
            <a:extLst>
              <a:ext uri="{FF2B5EF4-FFF2-40B4-BE49-F238E27FC236}">
                <a16:creationId xmlns:a16="http://schemas.microsoft.com/office/drawing/2014/main" id="{1D4A8FF6-9540-AEFB-0EA9-903FC3F3F1A3}"/>
              </a:ext>
            </a:extLst>
          </p:cNvPr>
          <p:cNvSpPr/>
          <p:nvPr/>
        </p:nvSpPr>
        <p:spPr>
          <a:xfrm>
            <a:off x="2523280" y="713978"/>
            <a:ext cx="7488821" cy="1489436"/>
          </a:xfrm>
          <a:prstGeom prst="star24">
            <a:avLst>
              <a:gd name="adj" fmla="val 4449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C7058-9B35-500E-4951-B60084C7F760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Spring Boot </a:t>
            </a:r>
            <a:r>
              <a:rPr lang="ko-KR" altLang="en-US" sz="2000" b="1" dirty="0"/>
              <a:t>란 </a:t>
            </a:r>
            <a:r>
              <a:rPr lang="en-US" altLang="ko-KR" sz="2000" dirty="0"/>
              <a:t>(</a:t>
            </a:r>
            <a:r>
              <a:rPr lang="ko-KR" altLang="en-US" sz="2000" dirty="0"/>
              <a:t>정의</a:t>
            </a:r>
            <a:r>
              <a:rPr lang="en-US" altLang="ko-KR" sz="2000" dirty="0"/>
              <a:t>,</a:t>
            </a:r>
            <a:r>
              <a:rPr lang="en-US" altLang="ko-KR" sz="2000" b="1" dirty="0"/>
              <a:t> </a:t>
            </a:r>
            <a:r>
              <a:rPr lang="ko-KR" altLang="en-US" sz="2000" dirty="0"/>
              <a:t>특징</a:t>
            </a:r>
            <a:r>
              <a:rPr lang="en-US" altLang="ko-KR" sz="2000" dirty="0"/>
              <a:t>, </a:t>
            </a:r>
            <a:r>
              <a:rPr lang="ko-KR" altLang="en-US" sz="2000" b="1" dirty="0">
                <a:highlight>
                  <a:srgbClr val="FFFF00"/>
                </a:highlight>
              </a:rPr>
              <a:t>사용</a:t>
            </a:r>
            <a:r>
              <a:rPr lang="ko-KR" altLang="en-US" sz="2000" dirty="0">
                <a:highlight>
                  <a:srgbClr val="FFFF00"/>
                </a:highlight>
              </a:rPr>
              <a:t> </a:t>
            </a:r>
            <a:r>
              <a:rPr lang="ko-KR" altLang="en-US" sz="2000" b="1" dirty="0">
                <a:highlight>
                  <a:srgbClr val="FFFF00"/>
                </a:highlight>
              </a:rPr>
              <a:t>이유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FE576-0B5F-09B1-1C7E-766153A158C6}"/>
              </a:ext>
            </a:extLst>
          </p:cNvPr>
          <p:cNvSpPr txBox="1"/>
          <p:nvPr/>
        </p:nvSpPr>
        <p:spPr>
          <a:xfrm>
            <a:off x="2413348" y="1201028"/>
            <a:ext cx="777237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개발자의 시간과 에너지를 아껴주기 때문에 </a:t>
            </a:r>
            <a:r>
              <a:rPr lang="en-US" altLang="ko-KR" sz="2300" b="1" dirty="0"/>
              <a:t>!</a:t>
            </a:r>
            <a:endParaRPr lang="ko-KR" altLang="en-US" sz="2300" dirty="0"/>
          </a:p>
        </p:txBody>
      </p:sp>
      <p:pic>
        <p:nvPicPr>
          <p:cNvPr id="8" name="그림 7" descr="拡声器で話す人のイラスト（真剣・男性医師） | かわいいフリー素材集 ...">
            <a:extLst>
              <a:ext uri="{FF2B5EF4-FFF2-40B4-BE49-F238E27FC236}">
                <a16:creationId xmlns:a16="http://schemas.microsoft.com/office/drawing/2014/main" id="{DB016E13-FD79-E965-58C5-A65D558A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3" y="989292"/>
            <a:ext cx="1450770" cy="13391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10C391-8493-3960-D2DC-DFE6328327DE}"/>
              </a:ext>
            </a:extLst>
          </p:cNvPr>
          <p:cNvSpPr txBox="1"/>
          <p:nvPr/>
        </p:nvSpPr>
        <p:spPr>
          <a:xfrm>
            <a:off x="941370" y="2782669"/>
            <a:ext cx="418239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1. </a:t>
            </a:r>
            <a:r>
              <a:rPr lang="ko-KR" altLang="en-US" b="1" dirty="0"/>
              <a:t>설정 지옥</a:t>
            </a:r>
            <a:r>
              <a:rPr lang="en-US" altLang="ko-KR" b="1" dirty="0"/>
              <a:t>(XML)</a:t>
            </a:r>
            <a:r>
              <a:rPr lang="ko-KR" altLang="en-US" b="1" dirty="0"/>
              <a:t>로부터의 해방</a:t>
            </a:r>
            <a:endParaRPr lang="en-US" altLang="ko-KR" b="1" dirty="0"/>
          </a:p>
          <a:p>
            <a:pPr algn="ctr"/>
            <a:r>
              <a:rPr lang="en-US" altLang="ko-KR" dirty="0"/>
              <a:t>(Auto-Configuration)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0BDC06-0998-E894-36FA-140045182A60}"/>
              </a:ext>
            </a:extLst>
          </p:cNvPr>
          <p:cNvSpPr txBox="1"/>
          <p:nvPr/>
        </p:nvSpPr>
        <p:spPr>
          <a:xfrm>
            <a:off x="6834812" y="2782669"/>
            <a:ext cx="418239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2. </a:t>
            </a:r>
            <a:r>
              <a:rPr lang="ko-KR" altLang="en-US" b="1" dirty="0"/>
              <a:t>귀찮은 서버 세팅 생략</a:t>
            </a:r>
            <a:endParaRPr lang="en-US" altLang="ko-KR" b="1" dirty="0"/>
          </a:p>
          <a:p>
            <a:pPr algn="ctr"/>
            <a:r>
              <a:rPr lang="en-US" altLang="ko-KR" dirty="0"/>
              <a:t>(Embedded</a:t>
            </a:r>
            <a:r>
              <a:rPr lang="ko-KR" altLang="en-US" dirty="0"/>
              <a:t> </a:t>
            </a:r>
            <a:r>
              <a:rPr lang="en-US" altLang="ko-KR" dirty="0"/>
              <a:t>Server)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8A8097-A049-8679-CC56-F12D4949D3E5}"/>
              </a:ext>
            </a:extLst>
          </p:cNvPr>
          <p:cNvSpPr txBox="1"/>
          <p:nvPr/>
        </p:nvSpPr>
        <p:spPr>
          <a:xfrm>
            <a:off x="941369" y="4564365"/>
            <a:ext cx="4182395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3. </a:t>
            </a:r>
            <a:r>
              <a:rPr lang="ko-KR" altLang="en-US" b="1" dirty="0"/>
              <a:t>버전</a:t>
            </a:r>
            <a:r>
              <a:rPr lang="en-US" altLang="ko-KR" b="1" dirty="0"/>
              <a:t> </a:t>
            </a:r>
            <a:r>
              <a:rPr lang="ko-KR" altLang="en-US" b="1" dirty="0"/>
              <a:t>충돌 스트레스 </a:t>
            </a:r>
            <a:r>
              <a:rPr lang="en-US" altLang="ko-KR" b="1" dirty="0"/>
              <a:t>X</a:t>
            </a:r>
          </a:p>
          <a:p>
            <a:pPr algn="ctr"/>
            <a:r>
              <a:rPr lang="en-US" altLang="ko-KR" dirty="0"/>
              <a:t>(Starter </a:t>
            </a:r>
            <a:r>
              <a:rPr lang="ko-KR" altLang="en-US" dirty="0"/>
              <a:t>패키지</a:t>
            </a:r>
            <a:r>
              <a:rPr lang="en-US" altLang="ko-KR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C7B956-0223-A094-C71C-F4C6F8CD5EC0}"/>
              </a:ext>
            </a:extLst>
          </p:cNvPr>
          <p:cNvSpPr txBox="1"/>
          <p:nvPr/>
        </p:nvSpPr>
        <p:spPr>
          <a:xfrm>
            <a:off x="6834812" y="4564365"/>
            <a:ext cx="418239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4. </a:t>
            </a:r>
            <a:r>
              <a:rPr lang="ko-KR" altLang="en-US" b="1" dirty="0"/>
              <a:t>취업 시장의 표본</a:t>
            </a:r>
            <a:endParaRPr lang="en-US" altLang="ko-KR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AF3D5B-2E11-6CE9-78CF-DB8D25F89B0A}"/>
              </a:ext>
            </a:extLst>
          </p:cNvPr>
          <p:cNvSpPr txBox="1"/>
          <p:nvPr/>
        </p:nvSpPr>
        <p:spPr>
          <a:xfrm>
            <a:off x="941369" y="3579470"/>
            <a:ext cx="41823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개발자가 추가한 도구들을 인식해서</a:t>
            </a:r>
            <a:endParaRPr lang="en-US" altLang="ko-KR" sz="1500" b="1" dirty="0"/>
          </a:p>
          <a:p>
            <a:pPr algn="ctr"/>
            <a:r>
              <a:rPr lang="ko-KR" altLang="en-US" sz="1500" b="1" dirty="0"/>
              <a:t>자동으로 설정해줌</a:t>
            </a:r>
            <a:r>
              <a:rPr lang="en-US" altLang="ko-KR" sz="1500" b="1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CE4742-634C-82E6-B306-AB74BB76CA07}"/>
              </a:ext>
            </a:extLst>
          </p:cNvPr>
          <p:cNvSpPr txBox="1"/>
          <p:nvPr/>
        </p:nvSpPr>
        <p:spPr>
          <a:xfrm>
            <a:off x="6834812" y="3694886"/>
            <a:ext cx="41823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프로그램 내부에 웹 서버를 통째로 내장</a:t>
            </a:r>
            <a:endParaRPr lang="en-US" altLang="ko-KR" sz="15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974B4-8B19-8EA6-4F30-9A7A6E08AF33}"/>
              </a:ext>
            </a:extLst>
          </p:cNvPr>
          <p:cNvSpPr txBox="1"/>
          <p:nvPr/>
        </p:nvSpPr>
        <p:spPr>
          <a:xfrm>
            <a:off x="941368" y="5364594"/>
            <a:ext cx="4182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목적에 맞는 </a:t>
            </a:r>
            <a:r>
              <a:rPr lang="en-US" altLang="ko-KR" sz="1500" b="1" dirty="0"/>
              <a:t>Starter </a:t>
            </a:r>
            <a:r>
              <a:rPr lang="ko-KR" altLang="en-US" sz="1500" b="1" dirty="0"/>
              <a:t>를 제공하여</a:t>
            </a:r>
            <a:endParaRPr lang="en-US" altLang="ko-KR" sz="1500" b="1" dirty="0"/>
          </a:p>
          <a:p>
            <a:pPr algn="ctr"/>
            <a:r>
              <a:rPr lang="ko-KR" altLang="en-US" sz="1500" b="1" dirty="0"/>
              <a:t>버전 충돌 없이 완벽하게 호환되는 도구들을 알아서 </a:t>
            </a:r>
            <a:r>
              <a:rPr lang="ko-KR" altLang="en-US" sz="1500" b="1" dirty="0" err="1"/>
              <a:t>묶어줌</a:t>
            </a:r>
            <a:endParaRPr lang="en-US" altLang="ko-KR" sz="15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A5987-9BAC-BD40-ED32-B173BE1B9BE1}"/>
              </a:ext>
            </a:extLst>
          </p:cNvPr>
          <p:cNvSpPr txBox="1"/>
          <p:nvPr/>
        </p:nvSpPr>
        <p:spPr>
          <a:xfrm>
            <a:off x="6834812" y="5364594"/>
            <a:ext cx="41823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/>
              <a:t>전 세계적으로 사용자가 많음</a:t>
            </a:r>
            <a:endParaRPr lang="en-US" altLang="ko-KR" sz="1500" b="1" dirty="0"/>
          </a:p>
        </p:txBody>
      </p:sp>
    </p:spTree>
    <p:extLst>
      <p:ext uri="{BB962C8B-B14F-4D97-AF65-F5344CB8AC3E}">
        <p14:creationId xmlns:p14="http://schemas.microsoft.com/office/powerpoint/2010/main" val="3467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333A9-05E0-4E70-A4ED-AABB9AF8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4FF7EF-9A7A-119C-E250-61B3E7F7EF9F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2.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Spring</a:t>
            </a:r>
            <a:r>
              <a:rPr lang="ko-KR" altLang="en-US" sz="2000" b="1" dirty="0"/>
              <a:t>과 </a:t>
            </a:r>
            <a:r>
              <a:rPr lang="ko-KR" altLang="en-US" sz="2000" b="1" dirty="0" err="1"/>
              <a:t>안티그래비티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CF273-6C68-3C33-8D41-805A1872989F}"/>
              </a:ext>
            </a:extLst>
          </p:cNvPr>
          <p:cNvSpPr txBox="1"/>
          <p:nvPr/>
        </p:nvSpPr>
        <p:spPr>
          <a:xfrm>
            <a:off x="3835078" y="1201028"/>
            <a:ext cx="452184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/>
              <a:t>Spring Boot x Antigravity</a:t>
            </a:r>
            <a:endParaRPr lang="ko-KR" altLang="en-US" sz="2300" b="1" dirty="0"/>
          </a:p>
        </p:txBody>
      </p:sp>
      <p:sp>
        <p:nvSpPr>
          <p:cNvPr id="9" name="말풍선: 타원형 8">
            <a:extLst>
              <a:ext uri="{FF2B5EF4-FFF2-40B4-BE49-F238E27FC236}">
                <a16:creationId xmlns:a16="http://schemas.microsoft.com/office/drawing/2014/main" id="{6998599A-118E-ACA0-1FBC-AEF10C86F4B8}"/>
              </a:ext>
            </a:extLst>
          </p:cNvPr>
          <p:cNvSpPr/>
          <p:nvPr/>
        </p:nvSpPr>
        <p:spPr>
          <a:xfrm>
            <a:off x="810227" y="1875098"/>
            <a:ext cx="3854370" cy="1805651"/>
          </a:xfrm>
          <a:prstGeom prst="wedgeEllipseCallout">
            <a:avLst>
              <a:gd name="adj1" fmla="val 39870"/>
              <a:gd name="adj2" fmla="val -5993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말풍선: 타원형 10">
            <a:extLst>
              <a:ext uri="{FF2B5EF4-FFF2-40B4-BE49-F238E27FC236}">
                <a16:creationId xmlns:a16="http://schemas.microsoft.com/office/drawing/2014/main" id="{E217D4E3-7497-ED6B-B130-68E81CB78908}"/>
              </a:ext>
            </a:extLst>
          </p:cNvPr>
          <p:cNvSpPr/>
          <p:nvPr/>
        </p:nvSpPr>
        <p:spPr>
          <a:xfrm>
            <a:off x="7643152" y="1875097"/>
            <a:ext cx="3622876" cy="1805651"/>
          </a:xfrm>
          <a:prstGeom prst="wedgeEllipseCallout">
            <a:avLst>
              <a:gd name="adj1" fmla="val -40961"/>
              <a:gd name="adj2" fmla="val -5929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1C65D-EC25-17E1-DA80-7FE59D3BF2CD}"/>
              </a:ext>
            </a:extLst>
          </p:cNvPr>
          <p:cNvSpPr txBox="1"/>
          <p:nvPr/>
        </p:nvSpPr>
        <p:spPr>
          <a:xfrm>
            <a:off x="914399" y="2508484"/>
            <a:ext cx="362287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안정적인 서버구조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8477C-0684-54DA-10D5-8788BABF3700}"/>
              </a:ext>
            </a:extLst>
          </p:cNvPr>
          <p:cNvSpPr txBox="1"/>
          <p:nvPr/>
        </p:nvSpPr>
        <p:spPr>
          <a:xfrm>
            <a:off x="7643152" y="2508484"/>
            <a:ext cx="362287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/>
              <a:t>AI </a:t>
            </a:r>
            <a:r>
              <a:rPr lang="ko-KR" altLang="en-US" sz="2300" b="1" dirty="0"/>
              <a:t>기반의 빠른 개발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6EDCC-FD72-B94C-9C26-51B9971C1F90}"/>
              </a:ext>
            </a:extLst>
          </p:cNvPr>
          <p:cNvSpPr txBox="1"/>
          <p:nvPr/>
        </p:nvSpPr>
        <p:spPr>
          <a:xfrm>
            <a:off x="3620420" y="4024289"/>
            <a:ext cx="6594765" cy="214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300" b="1" dirty="0"/>
              <a:t>개발 속도를 크게 향상</a:t>
            </a:r>
            <a:endParaRPr lang="en-US" altLang="ko-KR" sz="23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300" b="1" dirty="0"/>
              <a:t>AI </a:t>
            </a:r>
            <a:r>
              <a:rPr lang="ko-KR" altLang="en-US" sz="2300" b="1" dirty="0"/>
              <a:t>가 만든 기능을 실제 서비스로 연결</a:t>
            </a:r>
            <a:endParaRPr lang="en-US" altLang="ko-KR" sz="23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300" b="1" dirty="0"/>
              <a:t>프론트</a:t>
            </a:r>
            <a:r>
              <a:rPr lang="en-US" altLang="ko-KR" sz="2300" b="1" dirty="0"/>
              <a:t>-</a:t>
            </a:r>
            <a:r>
              <a:rPr lang="ko-KR" altLang="en-US" sz="2300" b="1" dirty="0"/>
              <a:t>백 연동이 </a:t>
            </a:r>
            <a:r>
              <a:rPr lang="ko-KR" altLang="en-US" sz="2300" b="1" dirty="0" err="1"/>
              <a:t>쉬워짐</a:t>
            </a:r>
            <a:endParaRPr lang="en-US" altLang="ko-KR" sz="23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300" b="1" dirty="0"/>
              <a:t>유지보수와 확장성이 좋아짐</a:t>
            </a:r>
          </a:p>
        </p:txBody>
      </p:sp>
    </p:spTree>
    <p:extLst>
      <p:ext uri="{BB962C8B-B14F-4D97-AF65-F5344CB8AC3E}">
        <p14:creationId xmlns:p14="http://schemas.microsoft.com/office/powerpoint/2010/main" val="293178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934C-1397-0AC6-472F-0B22EA41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7D266-5025-A959-EB98-B3B627CF0A91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</a:t>
            </a:r>
            <a:r>
              <a:rPr lang="ko-KR" altLang="en-US" sz="2000" b="1" dirty="0"/>
              <a:t> 협업 과정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122CD655-4109-A5C4-B43C-074B48CC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746" y="955461"/>
            <a:ext cx="6813630" cy="369701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FA354F0-EA33-7F98-4C14-34ABCEDBA476}"/>
              </a:ext>
            </a:extLst>
          </p:cNvPr>
          <p:cNvSpPr txBox="1"/>
          <p:nvPr/>
        </p:nvSpPr>
        <p:spPr>
          <a:xfrm>
            <a:off x="1203514" y="4856848"/>
            <a:ext cx="187903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아이디어 회의 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b="1" dirty="0" err="1"/>
              <a:t>ㄴ</a:t>
            </a:r>
            <a:r>
              <a:rPr lang="ko-KR" altLang="en-US" sz="2000" b="1" dirty="0"/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Figma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B8D7194F-2A66-F9C3-E3C5-81F3E5162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35" y="1044993"/>
            <a:ext cx="3245792" cy="360748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AEDD385-3720-82DC-BF5D-8403AED2685A}"/>
              </a:ext>
            </a:extLst>
          </p:cNvPr>
          <p:cNvSpPr txBox="1"/>
          <p:nvPr/>
        </p:nvSpPr>
        <p:spPr>
          <a:xfrm>
            <a:off x="3515305" y="4856846"/>
            <a:ext cx="1712748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기획서 작성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b="1" dirty="0" err="1"/>
              <a:t>ㄴ</a:t>
            </a:r>
            <a:r>
              <a:rPr lang="en-US" altLang="ko-KR" sz="2000" b="1" dirty="0"/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Notion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52522-3B66-FED8-530D-197A4BD672A7}"/>
              </a:ext>
            </a:extLst>
          </p:cNvPr>
          <p:cNvSpPr txBox="1"/>
          <p:nvPr/>
        </p:nvSpPr>
        <p:spPr>
          <a:xfrm>
            <a:off x="5660812" y="4856848"/>
            <a:ext cx="280028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설계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b="1" dirty="0" err="1"/>
              <a:t>ㄴ</a:t>
            </a:r>
            <a:r>
              <a:rPr lang="en-US" altLang="ko-KR" sz="2000" b="1" dirty="0"/>
              <a:t> </a:t>
            </a:r>
            <a:r>
              <a:rPr lang="en-US" altLang="ko-KR" sz="2000" b="1" dirty="0" err="1">
                <a:highlight>
                  <a:srgbClr val="FFFF00"/>
                </a:highlight>
              </a:rPr>
              <a:t>Figma,Supabase</a:t>
            </a:r>
            <a:endParaRPr lang="en-US" altLang="ko-KR" sz="2000" b="1" dirty="0">
              <a:highlight>
                <a:srgbClr val="FFFF00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C8A059-9BBB-EAEC-9E68-0C6EAF8E6958}"/>
              </a:ext>
            </a:extLst>
          </p:cNvPr>
          <p:cNvSpPr txBox="1"/>
          <p:nvPr/>
        </p:nvSpPr>
        <p:spPr>
          <a:xfrm>
            <a:off x="8461093" y="4856847"/>
            <a:ext cx="280028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개발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ko-KR" altLang="en-US" sz="2000" b="1" dirty="0" err="1"/>
              <a:t>ㄴ</a:t>
            </a:r>
            <a:r>
              <a:rPr lang="en-US" altLang="ko-KR" sz="2000" b="1" dirty="0"/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Google</a:t>
            </a:r>
            <a:r>
              <a:rPr lang="ko-KR" altLang="en-US" sz="2000" b="1" dirty="0">
                <a:highlight>
                  <a:srgbClr val="FFFF00"/>
                </a:highlight>
              </a:rPr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vision</a:t>
            </a:r>
            <a:r>
              <a:rPr lang="ko-KR" altLang="en-US" sz="2000" b="1" dirty="0">
                <a:highlight>
                  <a:srgbClr val="FFFF00"/>
                </a:highlight>
              </a:rPr>
              <a:t> </a:t>
            </a:r>
            <a:r>
              <a:rPr lang="en-US" altLang="ko-KR" sz="2000" b="1" dirty="0">
                <a:highlight>
                  <a:srgbClr val="FFFF00"/>
                </a:highlight>
              </a:rPr>
              <a:t>API </a:t>
            </a:r>
          </a:p>
        </p:txBody>
      </p:sp>
    </p:spTree>
    <p:extLst>
      <p:ext uri="{BB962C8B-B14F-4D97-AF65-F5344CB8AC3E}">
        <p14:creationId xmlns:p14="http://schemas.microsoft.com/office/powerpoint/2010/main" val="3887844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952C4-1357-78C6-1354-CBD340CA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892CEA-1CF3-315C-2866-764605D2556B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</a:t>
            </a:r>
            <a:r>
              <a:rPr lang="ko-KR" altLang="en-US" sz="2000" b="1" dirty="0"/>
              <a:t> 협업 과정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7C02F-1DE3-CECA-4D02-5266FD5E4314}"/>
              </a:ext>
            </a:extLst>
          </p:cNvPr>
          <p:cNvSpPr txBox="1"/>
          <p:nvPr/>
        </p:nvSpPr>
        <p:spPr>
          <a:xfrm>
            <a:off x="424329" y="899680"/>
            <a:ext cx="2163764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기획서</a:t>
            </a:r>
            <a:endParaRPr lang="ko-KR" alt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DB77E3C-F1F7-F7FC-2929-51D4F314B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3" y="1514958"/>
            <a:ext cx="3123625" cy="509753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A3937E7-AFB4-1404-8AE1-440D80514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947" y="1514958"/>
            <a:ext cx="3320921" cy="239517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7AA35A6-7BBD-5D66-1AD9-9B39D20E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241"/>
          <a:stretch>
            <a:fillRect/>
          </a:stretch>
        </p:blipFill>
        <p:spPr>
          <a:xfrm>
            <a:off x="6479682" y="4152660"/>
            <a:ext cx="2713897" cy="245983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0D3DEAD-24DA-D0B7-5790-D8F9E1DFD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561" y="1514958"/>
            <a:ext cx="2853144" cy="509753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7E356E4-A944-7E6C-E5FB-CE7E731A2B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844" b="32393"/>
          <a:stretch>
            <a:fillRect/>
          </a:stretch>
        </p:blipFill>
        <p:spPr>
          <a:xfrm>
            <a:off x="6504744" y="1514958"/>
            <a:ext cx="2656817" cy="270235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3EC6712-8A55-FB28-0B98-3F85506560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489"/>
          <a:stretch>
            <a:fillRect/>
          </a:stretch>
        </p:blipFill>
        <p:spPr>
          <a:xfrm>
            <a:off x="3215953" y="3910136"/>
            <a:ext cx="3288790" cy="2702356"/>
          </a:xfrm>
          <a:prstGeom prst="rect">
            <a:avLst/>
          </a:prstGeom>
        </p:spPr>
      </p:pic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93A61D6E-54E7-F949-8C0F-C261DF6FBE31}"/>
              </a:ext>
            </a:extLst>
          </p:cNvPr>
          <p:cNvSpPr/>
          <p:nvPr/>
        </p:nvSpPr>
        <p:spPr>
          <a:xfrm>
            <a:off x="3233947" y="472214"/>
            <a:ext cx="8522149" cy="921482"/>
          </a:xfrm>
          <a:prstGeom prst="wedgeRectCallout">
            <a:avLst>
              <a:gd name="adj1" fmla="val -56282"/>
              <a:gd name="adj2" fmla="val 3361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95773E-40E3-A1D8-D5C5-8F4C45D223AF}"/>
              </a:ext>
            </a:extLst>
          </p:cNvPr>
          <p:cNvSpPr txBox="1"/>
          <p:nvPr/>
        </p:nvSpPr>
        <p:spPr>
          <a:xfrm>
            <a:off x="3955171" y="747365"/>
            <a:ext cx="637765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스냅스플릿 </a:t>
            </a:r>
            <a:r>
              <a:rPr lang="en-US" altLang="ko-KR" sz="2300" b="1" dirty="0"/>
              <a:t>– </a:t>
            </a:r>
            <a:r>
              <a:rPr lang="ko-KR" altLang="en-US" sz="2300" b="1" dirty="0"/>
              <a:t>스마트 영수증 정산 플랫폼</a:t>
            </a:r>
          </a:p>
        </p:txBody>
      </p:sp>
    </p:spTree>
    <p:extLst>
      <p:ext uri="{BB962C8B-B14F-4D97-AF65-F5344CB8AC3E}">
        <p14:creationId xmlns:p14="http://schemas.microsoft.com/office/powerpoint/2010/main" val="139085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E555-2F59-2BCD-AA6E-F5D001BC3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665A8B-EEEC-69DB-AD46-FB59884426C0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</a:t>
            </a:r>
            <a:r>
              <a:rPr lang="ko-KR" altLang="en-US" sz="2000" b="1" dirty="0"/>
              <a:t> 협업 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167E2-2915-A46F-2365-64562B82133A}"/>
              </a:ext>
            </a:extLst>
          </p:cNvPr>
          <p:cNvSpPr txBox="1"/>
          <p:nvPr/>
        </p:nvSpPr>
        <p:spPr>
          <a:xfrm>
            <a:off x="424329" y="940679"/>
            <a:ext cx="4880658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PRD (</a:t>
            </a:r>
            <a:r>
              <a:rPr lang="ko-KR" altLang="en-US" sz="2000" b="1" dirty="0"/>
              <a:t>제품 요구사항 명세서</a:t>
            </a:r>
            <a:r>
              <a:rPr lang="en-US" altLang="ko-KR" sz="2000" b="1" dirty="0"/>
              <a:t>) </a:t>
            </a:r>
            <a:r>
              <a:rPr lang="en-US" altLang="ko-KR" sz="2000" dirty="0"/>
              <a:t>– Notion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D4243-275C-51BA-4C54-953088420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215" y="-1476696"/>
            <a:ext cx="3381847" cy="183858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4989BCB-988C-B1A4-14AA-D385F433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9" y="2221676"/>
            <a:ext cx="4134427" cy="27150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7E2A94-A043-BBCF-BE40-69D77B83C21A}"/>
              </a:ext>
            </a:extLst>
          </p:cNvPr>
          <p:cNvSpPr txBox="1"/>
          <p:nvPr/>
        </p:nvSpPr>
        <p:spPr>
          <a:xfrm>
            <a:off x="5000264" y="2502562"/>
            <a:ext cx="637765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/>
              <a:t>사람용 </a:t>
            </a:r>
            <a:r>
              <a:rPr lang="en-US" altLang="ko-KR" sz="2300" b="1" dirty="0"/>
              <a:t>PRD</a:t>
            </a:r>
            <a:r>
              <a:rPr lang="ko-KR" altLang="en-US" sz="2300" b="1" dirty="0"/>
              <a:t>와 </a:t>
            </a:r>
            <a:r>
              <a:rPr lang="en-US" altLang="ko-KR" sz="2300" b="1" dirty="0"/>
              <a:t>Antigravity</a:t>
            </a:r>
            <a:r>
              <a:rPr lang="ko-KR" altLang="en-US" sz="2300" b="1" dirty="0"/>
              <a:t>용 </a:t>
            </a:r>
            <a:r>
              <a:rPr lang="en-US" altLang="ko-KR" sz="2300" b="1" dirty="0"/>
              <a:t>PRD</a:t>
            </a:r>
            <a:r>
              <a:rPr lang="ko-KR" altLang="en-US" sz="2300" b="1" dirty="0"/>
              <a:t>를 나누어</a:t>
            </a:r>
            <a:endParaRPr lang="en-US" altLang="ko-KR" sz="2300" b="1" dirty="0"/>
          </a:p>
          <a:p>
            <a:pPr algn="ctr"/>
            <a:r>
              <a:rPr lang="ko-KR" altLang="en-US" sz="2300" b="1" dirty="0"/>
              <a:t>기획단계에서 역할과 요구사항 명확히 분리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FE22D0-28E2-77D5-6ADB-3CB3F56D51F4}"/>
              </a:ext>
            </a:extLst>
          </p:cNvPr>
          <p:cNvSpPr txBox="1"/>
          <p:nvPr/>
        </p:nvSpPr>
        <p:spPr>
          <a:xfrm>
            <a:off x="5000263" y="3682403"/>
            <a:ext cx="637765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/>
              <a:t>-&gt; </a:t>
            </a:r>
            <a:r>
              <a:rPr lang="ko-KR" altLang="en-US" sz="2300" b="1" dirty="0"/>
              <a:t>개발 의도 전달의 정확성 높이기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B92077-E14F-466C-006A-644EFDCE31C0}"/>
              </a:ext>
            </a:extLst>
          </p:cNvPr>
          <p:cNvSpPr txBox="1"/>
          <p:nvPr/>
        </p:nvSpPr>
        <p:spPr>
          <a:xfrm>
            <a:off x="1646500" y="5473724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사람용 </a:t>
            </a:r>
            <a:r>
              <a:rPr lang="en-US" altLang="ko-KR" dirty="0"/>
              <a:t>PRD</a:t>
            </a:r>
            <a:r>
              <a:rPr lang="ko-KR" altLang="en-US" dirty="0"/>
              <a:t>와 </a:t>
            </a:r>
            <a:r>
              <a:rPr lang="en-US" altLang="ko-KR" dirty="0"/>
              <a:t>Antigravity</a:t>
            </a:r>
            <a:r>
              <a:rPr lang="ko-KR" altLang="en-US" dirty="0"/>
              <a:t>용 </a:t>
            </a:r>
            <a:r>
              <a:rPr lang="en-US" altLang="ko-KR" dirty="0"/>
              <a:t>PRD</a:t>
            </a:r>
            <a:r>
              <a:rPr lang="ko-KR" altLang="en-US" dirty="0"/>
              <a:t>를 나누어 기획단계에서 사용자 관점의 요구사항과 </a:t>
            </a:r>
            <a:r>
              <a:rPr lang="en-US" altLang="ko-KR" dirty="0"/>
              <a:t>AI </a:t>
            </a:r>
            <a:r>
              <a:rPr lang="ko-KR" altLang="en-US" dirty="0"/>
              <a:t>구현용 명세를 분리하여</a:t>
            </a:r>
            <a:r>
              <a:rPr lang="en-US" altLang="ko-KR" dirty="0"/>
              <a:t>, </a:t>
            </a:r>
            <a:r>
              <a:rPr lang="ko-KR" altLang="en-US" dirty="0"/>
              <a:t>협업 효율성과 개발 생산성을 동시에 확보하였다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AE183-3C26-18AB-D143-E7B33CF6DC47}"/>
              </a:ext>
            </a:extLst>
          </p:cNvPr>
          <p:cNvSpPr txBox="1"/>
          <p:nvPr/>
        </p:nvSpPr>
        <p:spPr>
          <a:xfrm>
            <a:off x="4898985" y="5363073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사람용 </a:t>
            </a:r>
            <a:r>
              <a:rPr lang="en-US" altLang="ko-KR" dirty="0"/>
              <a:t>PRD</a:t>
            </a:r>
            <a:r>
              <a:rPr lang="ko-KR" altLang="en-US" dirty="0"/>
              <a:t>와 </a:t>
            </a:r>
            <a:r>
              <a:rPr lang="en-US" altLang="ko-KR" dirty="0"/>
              <a:t>Antigravity</a:t>
            </a:r>
            <a:r>
              <a:rPr lang="ko-KR" altLang="en-US" dirty="0"/>
              <a:t>용 </a:t>
            </a:r>
            <a:r>
              <a:rPr lang="en-US" altLang="ko-KR" dirty="0"/>
              <a:t>PRD</a:t>
            </a:r>
            <a:r>
              <a:rPr lang="ko-KR" altLang="en-US" dirty="0"/>
              <a:t>를 나누어 기획단계에서 기능 요구사항과 </a:t>
            </a:r>
            <a:r>
              <a:rPr lang="en-US" altLang="ko-KR" dirty="0"/>
              <a:t>AI </a:t>
            </a:r>
            <a:r>
              <a:rPr lang="ko-KR" altLang="en-US" dirty="0"/>
              <a:t>프롬프트 구조를 체계적으로 분리함으로써</a:t>
            </a:r>
            <a:r>
              <a:rPr lang="en-US" altLang="ko-KR" dirty="0"/>
              <a:t>, </a:t>
            </a:r>
            <a:r>
              <a:rPr lang="ko-KR" altLang="en-US" dirty="0"/>
              <a:t>불필요한 수정 작업을 줄이고 개발 속도를 향상시켰다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35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9063-5B8F-9B73-F21A-3528DE46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9EC743-116C-DD28-6DC1-A9F95FCD470E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3.</a:t>
            </a:r>
            <a:r>
              <a:rPr lang="ko-KR" altLang="en-US" sz="2000" b="1" dirty="0"/>
              <a:t> 협업 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7710F6-1532-374E-908A-E5BC8B51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55" y="1688118"/>
            <a:ext cx="11028686" cy="3521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D1CF4-93E0-5764-B4CA-362F432E37B1}"/>
              </a:ext>
            </a:extLst>
          </p:cNvPr>
          <p:cNvSpPr txBox="1"/>
          <p:nvPr/>
        </p:nvSpPr>
        <p:spPr>
          <a:xfrm>
            <a:off x="578655" y="975994"/>
            <a:ext cx="719636" cy="4001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깃</a:t>
            </a:r>
            <a:endParaRPr lang="ko-KR" altLang="en-US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DBBEBD-6B04-024A-5885-30778E059C19}"/>
              </a:ext>
            </a:extLst>
          </p:cNvPr>
          <p:cNvSpPr txBox="1"/>
          <p:nvPr/>
        </p:nvSpPr>
        <p:spPr>
          <a:xfrm>
            <a:off x="2907172" y="5474079"/>
            <a:ext cx="637765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00" b="1" dirty="0"/>
              <a:t>GitHub</a:t>
            </a:r>
            <a:r>
              <a:rPr lang="ko-KR" altLang="en-US" sz="2300" b="1" dirty="0"/>
              <a:t>를 이용하여 체계적으로 프로젝트 관리</a:t>
            </a:r>
          </a:p>
        </p:txBody>
      </p:sp>
    </p:spTree>
    <p:extLst>
      <p:ext uri="{BB962C8B-B14F-4D97-AF65-F5344CB8AC3E}">
        <p14:creationId xmlns:p14="http://schemas.microsoft.com/office/powerpoint/2010/main" val="382941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93563-8AE8-F4AB-5040-F7EF727D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48F98F0-0A47-68A4-4D69-BE57882F7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349" y="1053296"/>
            <a:ext cx="7807322" cy="49170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95C7E-ED66-E7AB-012A-89E8706733EE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>
                <a:highlight>
                  <a:srgbClr val="0099CC"/>
                </a:highlight>
              </a:rPr>
              <a:t>Java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550CAA-4C4B-095E-0878-161BFD50D515}"/>
              </a:ext>
            </a:extLst>
          </p:cNvPr>
          <p:cNvSpPr txBox="1"/>
          <p:nvPr/>
        </p:nvSpPr>
        <p:spPr>
          <a:xfrm>
            <a:off x="424329" y="3810965"/>
            <a:ext cx="3321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↑위 사이트에서</a:t>
            </a:r>
            <a:endParaRPr lang="en-US" altLang="ko-KR" sz="20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자바 </a:t>
            </a:r>
            <a:r>
              <a:rPr lang="ko-KR" altLang="en-US" sz="2000" b="1" dirty="0" err="1">
                <a:highlight>
                  <a:srgbClr val="FFCC66"/>
                </a:highlight>
              </a:rPr>
              <a:t>인스톨러</a:t>
            </a:r>
            <a:r>
              <a:rPr lang="ko-KR" altLang="en-US" sz="2000" b="1" dirty="0">
                <a:highlight>
                  <a:srgbClr val="FFCC66"/>
                </a:highlight>
              </a:rPr>
              <a:t> 설치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1E910-05F2-EC86-7792-A83C57AAF7F8}"/>
              </a:ext>
            </a:extLst>
          </p:cNvPr>
          <p:cNvSpPr txBox="1"/>
          <p:nvPr/>
        </p:nvSpPr>
        <p:spPr>
          <a:xfrm>
            <a:off x="130216" y="2483695"/>
            <a:ext cx="4140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u="sng" dirty="0">
                <a:effectLst/>
                <a:hlinkClick r:id="rId3"/>
              </a:rPr>
              <a:t>https://www.oracle.com/kr/java/technologies/downloads/#jdk21-windows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24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81DF5-74C5-CACC-BBDF-B3F25AEC0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987C5EA-5994-43C4-9F41-53DD6276F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46" y="1069576"/>
            <a:ext cx="9242694" cy="5524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3CFCF-0619-9D52-4918-C8E21B31FBAB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>
                <a:highlight>
                  <a:srgbClr val="0099CC"/>
                </a:highlight>
              </a:rPr>
              <a:t>Java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D7CECAD-E20E-0911-A354-E89A843D7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32"/>
          <a:stretch>
            <a:fillRect/>
          </a:stretch>
        </p:blipFill>
        <p:spPr>
          <a:xfrm>
            <a:off x="4932083" y="161095"/>
            <a:ext cx="2379259" cy="75258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E8975BF6-171A-1496-A0A9-AB0492F6CC44}"/>
              </a:ext>
            </a:extLst>
          </p:cNvPr>
          <p:cNvSpPr/>
          <p:nvPr/>
        </p:nvSpPr>
        <p:spPr>
          <a:xfrm>
            <a:off x="4880658" y="126805"/>
            <a:ext cx="2430684" cy="785414"/>
          </a:xfrm>
          <a:prstGeom prst="frame">
            <a:avLst>
              <a:gd name="adj1" fmla="val 7279"/>
            </a:avLst>
          </a:prstGeom>
          <a:solidFill>
            <a:srgbClr val="E62121"/>
          </a:solidFill>
          <a:ln>
            <a:solidFill>
              <a:srgbClr val="E6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52B70-BB6A-D70E-4691-E6FB18A5C5C1}"/>
              </a:ext>
            </a:extLst>
          </p:cNvPr>
          <p:cNvSpPr txBox="1"/>
          <p:nvPr/>
        </p:nvSpPr>
        <p:spPr>
          <a:xfrm>
            <a:off x="7143559" y="319457"/>
            <a:ext cx="5235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highlight>
                  <a:srgbClr val="FFCC66"/>
                </a:highlight>
              </a:rPr>
              <a:t>Window </a:t>
            </a:r>
            <a:r>
              <a:rPr lang="ko-KR" altLang="en-US" sz="2000" b="1" dirty="0">
                <a:highlight>
                  <a:srgbClr val="FFCC66"/>
                </a:highlight>
              </a:rPr>
              <a:t>시스템 환경변수 편집 들어가기</a:t>
            </a:r>
          </a:p>
        </p:txBody>
      </p:sp>
      <p:sp>
        <p:nvSpPr>
          <p:cNvPr id="18" name="액자 17">
            <a:extLst>
              <a:ext uri="{FF2B5EF4-FFF2-40B4-BE49-F238E27FC236}">
                <a16:creationId xmlns:a16="http://schemas.microsoft.com/office/drawing/2014/main" id="{6FB248F1-2060-DF9D-20A6-3B19AC6A0919}"/>
              </a:ext>
            </a:extLst>
          </p:cNvPr>
          <p:cNvSpPr/>
          <p:nvPr/>
        </p:nvSpPr>
        <p:spPr>
          <a:xfrm>
            <a:off x="1959135" y="1745837"/>
            <a:ext cx="586759" cy="312517"/>
          </a:xfrm>
          <a:prstGeom prst="frame">
            <a:avLst>
              <a:gd name="adj1" fmla="val 14648"/>
            </a:avLst>
          </a:prstGeom>
          <a:solidFill>
            <a:srgbClr val="E62121"/>
          </a:solidFill>
          <a:ln>
            <a:solidFill>
              <a:srgbClr val="E6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7D1647-B7CF-03D7-1D9D-3651814629F1}"/>
              </a:ext>
            </a:extLst>
          </p:cNvPr>
          <p:cNvSpPr txBox="1"/>
          <p:nvPr/>
        </p:nvSpPr>
        <p:spPr>
          <a:xfrm>
            <a:off x="-179319" y="4818122"/>
            <a:ext cx="5235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환경변수 클릭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43DE1-CDAD-772D-E033-D807A7287513}"/>
              </a:ext>
            </a:extLst>
          </p:cNvPr>
          <p:cNvSpPr txBox="1"/>
          <p:nvPr/>
        </p:nvSpPr>
        <p:spPr>
          <a:xfrm>
            <a:off x="6857686" y="3126174"/>
            <a:ext cx="2191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새로 만들기 클릭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D89E96-C468-B318-107E-C6B3D17963ED}"/>
              </a:ext>
            </a:extLst>
          </p:cNvPr>
          <p:cNvSpPr txBox="1"/>
          <p:nvPr/>
        </p:nvSpPr>
        <p:spPr>
          <a:xfrm>
            <a:off x="7509164" y="5218232"/>
            <a:ext cx="4504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변수이름 </a:t>
            </a:r>
            <a:r>
              <a:rPr lang="en-US" altLang="ko-KR" sz="2000" b="1" dirty="0">
                <a:highlight>
                  <a:srgbClr val="FFCC66"/>
                </a:highlight>
              </a:rPr>
              <a:t>JAVA_HOME</a:t>
            </a:r>
            <a:r>
              <a:rPr lang="ko-KR" altLang="en-US" sz="2000" b="1" dirty="0">
                <a:highlight>
                  <a:srgbClr val="FFCC66"/>
                </a:highlight>
              </a:rPr>
              <a:t>으로 적기</a:t>
            </a:r>
            <a:endParaRPr lang="en-US" altLang="ko-KR" sz="20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변수 값은 자바 설치 경로 적기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8DF7D116-48CF-BB42-B3BF-0F1A4628E4B4}"/>
                  </a:ext>
                </a:extLst>
              </p14:cNvPr>
              <p14:cNvContentPartPr/>
              <p14:nvPr/>
            </p14:nvContentPartPr>
            <p14:xfrm>
              <a:off x="4580730" y="166140"/>
              <a:ext cx="190440" cy="27072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8DF7D116-48CF-BB42-B3BF-0F1A4628E4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3090" y="148500"/>
                <a:ext cx="226080" cy="3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53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B6B6-754F-E779-BEB0-B52197A7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2366BB6-8002-7A17-AA38-4416B7BC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866243"/>
            <a:ext cx="9201150" cy="5553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A3B55-6569-1CAF-8F7B-8FF6D2D2B9B5}"/>
              </a:ext>
            </a:extLst>
          </p:cNvPr>
          <p:cNvSpPr txBox="1"/>
          <p:nvPr/>
        </p:nvSpPr>
        <p:spPr>
          <a:xfrm>
            <a:off x="424329" y="263870"/>
            <a:ext cx="70848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>
                <a:highlight>
                  <a:srgbClr val="0099CC"/>
                </a:highlight>
              </a:rPr>
              <a:t>Java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EAE16-F834-4015-930E-9C2BD3411729}"/>
              </a:ext>
            </a:extLst>
          </p:cNvPr>
          <p:cNvSpPr txBox="1"/>
          <p:nvPr/>
        </p:nvSpPr>
        <p:spPr>
          <a:xfrm>
            <a:off x="-986852" y="3429000"/>
            <a:ext cx="366153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시스템 변수의</a:t>
            </a:r>
            <a:endParaRPr lang="en-US" altLang="ko-KR" sz="1900" b="1" dirty="0">
              <a:highlight>
                <a:srgbClr val="FFCC66"/>
              </a:highlight>
            </a:endParaRPr>
          </a:p>
          <a:p>
            <a:pPr algn="ctr"/>
            <a:r>
              <a:rPr lang="en-US" altLang="ko-KR" sz="1900" b="1" dirty="0">
                <a:highlight>
                  <a:srgbClr val="FFCC66"/>
                </a:highlight>
              </a:rPr>
              <a:t>Path</a:t>
            </a:r>
            <a:r>
              <a:rPr lang="ko-KR" altLang="en-US" sz="1900" b="1" dirty="0">
                <a:highlight>
                  <a:srgbClr val="FFCC66"/>
                </a:highlight>
              </a:rPr>
              <a:t> 클릭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F145A-EBB5-E402-694E-C3519914AFDD}"/>
              </a:ext>
            </a:extLst>
          </p:cNvPr>
          <p:cNvSpPr txBox="1"/>
          <p:nvPr/>
        </p:nvSpPr>
        <p:spPr>
          <a:xfrm>
            <a:off x="7879993" y="3239592"/>
            <a:ext cx="281658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새로 만들기를 누르고</a:t>
            </a:r>
            <a:endParaRPr lang="en-US" altLang="ko-KR" sz="1900" b="1" dirty="0">
              <a:highlight>
                <a:srgbClr val="FFCC66"/>
              </a:highlight>
            </a:endParaRPr>
          </a:p>
          <a:p>
            <a:pPr algn="ctr"/>
            <a:r>
              <a:rPr lang="en-US" altLang="ko-KR" sz="1900" b="1" dirty="0">
                <a:highlight>
                  <a:srgbClr val="FFCC66"/>
                </a:highlight>
              </a:rPr>
              <a:t>%JAVA_HOME%\bin</a:t>
            </a:r>
            <a:r>
              <a:rPr lang="ko-KR" altLang="en-US" sz="1900" b="1" dirty="0">
                <a:highlight>
                  <a:srgbClr val="FFCC66"/>
                </a:highlight>
              </a:rPr>
              <a:t>을 적고 확인 누르기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66EDB0-D5FF-52C4-672D-E27974AB4F73}"/>
              </a:ext>
            </a:extLst>
          </p:cNvPr>
          <p:cNvSpPr txBox="1"/>
          <p:nvPr/>
        </p:nvSpPr>
        <p:spPr>
          <a:xfrm>
            <a:off x="1311060" y="5012239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편집 클릭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pic>
        <p:nvPicPr>
          <p:cNvPr id="18" name="그림 17" descr="いろいろな表情のプラカードを持っている男性看護師のイラスト ...">
            <a:extLst>
              <a:ext uri="{FF2B5EF4-FFF2-40B4-BE49-F238E27FC236}">
                <a16:creationId xmlns:a16="http://schemas.microsoft.com/office/drawing/2014/main" id="{C3215872-67B7-B70E-4B33-A5EE191A1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93" y="4689961"/>
            <a:ext cx="1600143" cy="2091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0DC4B1-DA2E-9487-730F-F3F4A9DBD320}"/>
              </a:ext>
            </a:extLst>
          </p:cNvPr>
          <p:cNvSpPr txBox="1"/>
          <p:nvPr/>
        </p:nvSpPr>
        <p:spPr>
          <a:xfrm>
            <a:off x="10260928" y="4850656"/>
            <a:ext cx="1632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자바 세팅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끝 </a:t>
            </a:r>
            <a:r>
              <a:rPr lang="en-US" altLang="ko-KR" sz="2000" b="1" dirty="0"/>
              <a:t>!!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2359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CD8D-A2EF-827E-E787-0AB13706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87C8ABB-703A-6E8A-B7B5-53B378109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68" y="1394067"/>
            <a:ext cx="8317267" cy="5200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A02CF1-6FC6-21D9-7A38-A6094BF82187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>
                <a:highlight>
                  <a:srgbClr val="0099CC"/>
                </a:highlight>
              </a:rPr>
              <a:t>google vision </a:t>
            </a:r>
            <a:r>
              <a:rPr lang="en-US" altLang="ko-KR" sz="2000" b="1" dirty="0" err="1">
                <a:highlight>
                  <a:srgbClr val="0099CC"/>
                </a:highlight>
              </a:rPr>
              <a:t>api</a:t>
            </a:r>
            <a:r>
              <a:rPr lang="ko-KR" altLang="en-US" sz="2000" b="1" dirty="0">
                <a:highlight>
                  <a:srgbClr val="0099CC"/>
                </a:highlight>
              </a:rPr>
              <a:t>와 </a:t>
            </a:r>
            <a:r>
              <a:rPr lang="en-US" altLang="ko-KR" sz="2000" b="1" dirty="0" err="1">
                <a:highlight>
                  <a:srgbClr val="0099CC"/>
                </a:highlight>
              </a:rPr>
              <a:t>gemini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en-US" altLang="ko-KR" sz="2000" b="1" dirty="0" err="1">
                <a:highlight>
                  <a:srgbClr val="0099CC"/>
                </a:highlight>
              </a:rPr>
              <a:t>api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발급 받기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C7224-C563-98F9-70C5-7F499323FB1C}"/>
              </a:ext>
            </a:extLst>
          </p:cNvPr>
          <p:cNvSpPr txBox="1"/>
          <p:nvPr/>
        </p:nvSpPr>
        <p:spPr>
          <a:xfrm>
            <a:off x="3879898" y="933530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00" b="1" dirty="0">
                <a:highlight>
                  <a:srgbClr val="FFCC66"/>
                </a:highlight>
              </a:rPr>
              <a:t>&lt;- </a:t>
            </a:r>
            <a:r>
              <a:rPr lang="ko-KR" altLang="en-US" sz="1900" b="1" dirty="0">
                <a:highlight>
                  <a:srgbClr val="FFCC66"/>
                </a:highlight>
              </a:rPr>
              <a:t>이 링크로 들어가기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D7A8F-37AA-257C-4A2A-DF10AEB463EA}"/>
              </a:ext>
            </a:extLst>
          </p:cNvPr>
          <p:cNvSpPr txBox="1"/>
          <p:nvPr/>
        </p:nvSpPr>
        <p:spPr>
          <a:xfrm>
            <a:off x="8599990" y="887817"/>
            <a:ext cx="34243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① 로그인 및 결제 정보 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0FDB4-3AB9-B529-E84F-8E2C8350FDBD}"/>
              </a:ext>
            </a:extLst>
          </p:cNvPr>
          <p:cNvSpPr txBox="1"/>
          <p:nvPr/>
        </p:nvSpPr>
        <p:spPr>
          <a:xfrm>
            <a:off x="424329" y="923780"/>
            <a:ext cx="4226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https://console.cloud.google.com/apis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1DDAA-B624-AA5A-61FA-4BF1F561DC04}"/>
              </a:ext>
            </a:extLst>
          </p:cNvPr>
          <p:cNvSpPr txBox="1"/>
          <p:nvPr/>
        </p:nvSpPr>
        <p:spPr>
          <a:xfrm>
            <a:off x="-475347" y="1655677"/>
            <a:ext cx="30127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②프로젝트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498EE-D1B6-FDD5-46E9-78D817F43D73}"/>
              </a:ext>
            </a:extLst>
          </p:cNvPr>
          <p:cNvSpPr txBox="1"/>
          <p:nvPr/>
        </p:nvSpPr>
        <p:spPr>
          <a:xfrm>
            <a:off x="0" y="4479049"/>
            <a:ext cx="31135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③사용자 인증 정보 만들기</a:t>
            </a:r>
            <a:endParaRPr lang="en-US" altLang="ko-KR" sz="1900" b="1" dirty="0">
              <a:highlight>
                <a:srgbClr val="FFCC66"/>
              </a:highlight>
            </a:endParaRPr>
          </a:p>
          <a:p>
            <a:pPr algn="ctr"/>
            <a:r>
              <a:rPr lang="en-US" altLang="ko-KR" sz="1900" b="1" dirty="0">
                <a:highlight>
                  <a:srgbClr val="FFCC66"/>
                </a:highlight>
              </a:rPr>
              <a:t>(</a:t>
            </a:r>
            <a:r>
              <a:rPr lang="en-US" altLang="ko-KR" sz="1900" b="1" dirty="0" err="1">
                <a:highlight>
                  <a:srgbClr val="FFCC66"/>
                </a:highlight>
              </a:rPr>
              <a:t>api</a:t>
            </a:r>
            <a:r>
              <a:rPr lang="ko-KR" altLang="en-US" sz="1900" b="1" dirty="0">
                <a:highlight>
                  <a:srgbClr val="FFCC66"/>
                </a:highlight>
              </a:rPr>
              <a:t>키 발급</a:t>
            </a:r>
            <a:r>
              <a:rPr lang="en-US" altLang="ko-KR" sz="1900" b="1" dirty="0">
                <a:highlight>
                  <a:srgbClr val="FFCC66"/>
                </a:highlight>
              </a:rPr>
              <a:t>)</a:t>
            </a:r>
            <a:endParaRPr lang="ko-KR" altLang="en-US" sz="1900" b="1" dirty="0">
              <a:highlight>
                <a:srgbClr val="FFCC66"/>
              </a:highlight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06C27BB-A26F-1277-7EE1-2AB7545442D9}"/>
              </a:ext>
            </a:extLst>
          </p:cNvPr>
          <p:cNvCxnSpPr>
            <a:cxnSpLocks/>
          </p:cNvCxnSpPr>
          <p:nvPr/>
        </p:nvCxnSpPr>
        <p:spPr>
          <a:xfrm>
            <a:off x="1937365" y="1848037"/>
            <a:ext cx="1315730" cy="12700"/>
          </a:xfrm>
          <a:prstGeom prst="bentConnector3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2D16DBC-EFB7-BE10-0918-46A33082838F}"/>
              </a:ext>
            </a:extLst>
          </p:cNvPr>
          <p:cNvCxnSpPr>
            <a:cxnSpLocks/>
          </p:cNvCxnSpPr>
          <p:nvPr/>
        </p:nvCxnSpPr>
        <p:spPr>
          <a:xfrm rot="5400000">
            <a:off x="2872038" y="2487719"/>
            <a:ext cx="2470643" cy="2189125"/>
          </a:xfrm>
          <a:prstGeom prst="bentConnector2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33F42FED-7E54-5D11-5FB0-4878239E6B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254633" y="1272537"/>
            <a:ext cx="873401" cy="575499"/>
          </a:xfrm>
          <a:prstGeom prst="bentConnector3">
            <a:avLst>
              <a:gd name="adj1" fmla="val 1143"/>
            </a:avLst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F11017B7-0046-C753-80EE-6A8570E967B8}"/>
              </a:ext>
            </a:extLst>
          </p:cNvPr>
          <p:cNvCxnSpPr>
            <a:cxnSpLocks/>
          </p:cNvCxnSpPr>
          <p:nvPr/>
        </p:nvCxnSpPr>
        <p:spPr>
          <a:xfrm>
            <a:off x="9887103" y="3428999"/>
            <a:ext cx="503415" cy="12700"/>
          </a:xfrm>
          <a:prstGeom prst="bentConnector3">
            <a:avLst>
              <a:gd name="adj1" fmla="val 50000"/>
            </a:avLst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E90252-775D-1A37-9033-F8672943D98F}"/>
              </a:ext>
            </a:extLst>
          </p:cNvPr>
          <p:cNvSpPr txBox="1"/>
          <p:nvPr/>
        </p:nvSpPr>
        <p:spPr>
          <a:xfrm>
            <a:off x="9503052" y="3236639"/>
            <a:ext cx="301279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④ </a:t>
            </a:r>
            <a:r>
              <a:rPr lang="en-US" altLang="ko-KR" sz="1900" b="1" dirty="0" err="1">
                <a:highlight>
                  <a:srgbClr val="FFCC66"/>
                </a:highlight>
              </a:rPr>
              <a:t>api</a:t>
            </a:r>
            <a:r>
              <a:rPr lang="en-US" altLang="ko-KR" sz="1900" b="1" dirty="0">
                <a:highlight>
                  <a:srgbClr val="FFCC66"/>
                </a:highlight>
              </a:rPr>
              <a:t> </a:t>
            </a:r>
            <a:r>
              <a:rPr lang="ko-KR" altLang="en-US" sz="1900" b="1" dirty="0">
                <a:highlight>
                  <a:srgbClr val="FFCC66"/>
                </a:highlight>
              </a:rPr>
              <a:t>키 복사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E047D4-AAC5-18C4-D67D-BB325A81B505}"/>
              </a:ext>
            </a:extLst>
          </p:cNvPr>
          <p:cNvSpPr txBox="1"/>
          <p:nvPr/>
        </p:nvSpPr>
        <p:spPr>
          <a:xfrm>
            <a:off x="8372445" y="5917022"/>
            <a:ext cx="30127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CC"/>
                </a:highlight>
              </a:rPr>
              <a:t>개인정보가 너무 많아</a:t>
            </a:r>
            <a:endParaRPr lang="en-US" altLang="ko-KR" sz="1900" b="1" dirty="0">
              <a:highlight>
                <a:srgbClr val="FFCCCC"/>
              </a:highlight>
            </a:endParaRPr>
          </a:p>
          <a:p>
            <a:pPr algn="ctr"/>
            <a:r>
              <a:rPr lang="ko-KR" altLang="en-US" sz="1900" b="1" dirty="0" err="1">
                <a:highlight>
                  <a:srgbClr val="FFCCCC"/>
                </a:highlight>
              </a:rPr>
              <a:t>캡처본</a:t>
            </a:r>
            <a:r>
              <a:rPr lang="ko-KR" altLang="en-US" sz="1900" b="1" dirty="0">
                <a:highlight>
                  <a:srgbClr val="FFCCCC"/>
                </a:highlight>
              </a:rPr>
              <a:t> 최소화</a:t>
            </a:r>
          </a:p>
        </p:txBody>
      </p:sp>
    </p:spTree>
    <p:extLst>
      <p:ext uri="{BB962C8B-B14F-4D97-AF65-F5344CB8AC3E}">
        <p14:creationId xmlns:p14="http://schemas.microsoft.com/office/powerpoint/2010/main" val="316387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7906-A272-0966-7D4C-85469E36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17CE45-AE7F-AA00-429D-70660720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29" y="1064090"/>
            <a:ext cx="10881360" cy="5340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75BF1-D9A0-4888-8D3D-B15CA7A67788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>
                <a:highlight>
                  <a:srgbClr val="0099CC"/>
                </a:highlight>
              </a:rPr>
              <a:t>google vision </a:t>
            </a:r>
            <a:r>
              <a:rPr lang="en-US" altLang="ko-KR" sz="2000" b="1" dirty="0" err="1">
                <a:highlight>
                  <a:srgbClr val="0099CC"/>
                </a:highlight>
              </a:rPr>
              <a:t>api</a:t>
            </a:r>
            <a:r>
              <a:rPr lang="ko-KR" altLang="en-US" sz="2000" b="1" dirty="0">
                <a:highlight>
                  <a:srgbClr val="0099CC"/>
                </a:highlight>
              </a:rPr>
              <a:t>와 </a:t>
            </a:r>
            <a:r>
              <a:rPr lang="en-US" altLang="ko-KR" sz="2000" b="1" dirty="0" err="1">
                <a:highlight>
                  <a:srgbClr val="0099CC"/>
                </a:highlight>
              </a:rPr>
              <a:t>gemini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en-US" altLang="ko-KR" sz="2000" b="1" dirty="0" err="1">
                <a:highlight>
                  <a:srgbClr val="0099CC"/>
                </a:highlight>
              </a:rPr>
              <a:t>api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발급 받기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D08A82-49F2-502F-0C96-267A15DE7D7A}"/>
              </a:ext>
            </a:extLst>
          </p:cNvPr>
          <p:cNvSpPr txBox="1"/>
          <p:nvPr/>
        </p:nvSpPr>
        <p:spPr>
          <a:xfrm>
            <a:off x="214023" y="1845761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① </a:t>
            </a:r>
            <a:r>
              <a:rPr lang="en-US" altLang="ko-KR" sz="1900" b="1" dirty="0">
                <a:highlight>
                  <a:srgbClr val="FFCC66"/>
                </a:highlight>
              </a:rPr>
              <a:t>Api </a:t>
            </a:r>
            <a:r>
              <a:rPr lang="ko-KR" altLang="en-US" sz="1900" b="1" dirty="0">
                <a:highlight>
                  <a:srgbClr val="FFCC66"/>
                </a:highlight>
              </a:rPr>
              <a:t>키 탭을 누른다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4FA42E-89F5-544D-847D-B45563DF1DD0}"/>
              </a:ext>
            </a:extLst>
          </p:cNvPr>
          <p:cNvSpPr txBox="1"/>
          <p:nvPr/>
        </p:nvSpPr>
        <p:spPr>
          <a:xfrm>
            <a:off x="8356922" y="2778075"/>
            <a:ext cx="311689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③ 만들어진 </a:t>
            </a:r>
            <a:r>
              <a:rPr lang="en-US" altLang="ko-KR" sz="1900" b="1" dirty="0" err="1">
                <a:highlight>
                  <a:srgbClr val="FFCC66"/>
                </a:highlight>
              </a:rPr>
              <a:t>api</a:t>
            </a:r>
            <a:r>
              <a:rPr lang="ko-KR" altLang="en-US" sz="1900" b="1" dirty="0">
                <a:highlight>
                  <a:srgbClr val="FFCC66"/>
                </a:highlight>
              </a:rPr>
              <a:t>키를 복사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DDF9F-0773-C983-0D5F-218805FA54CB}"/>
              </a:ext>
            </a:extLst>
          </p:cNvPr>
          <p:cNvSpPr txBox="1"/>
          <p:nvPr/>
        </p:nvSpPr>
        <p:spPr>
          <a:xfrm>
            <a:off x="6049226" y="1184549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② </a:t>
            </a:r>
            <a:r>
              <a:rPr lang="en-US" altLang="ko-KR" sz="1900" b="1" dirty="0">
                <a:highlight>
                  <a:srgbClr val="FFCC66"/>
                </a:highlight>
              </a:rPr>
              <a:t>API </a:t>
            </a:r>
            <a:r>
              <a:rPr lang="ko-KR" altLang="en-US" sz="1900" b="1" dirty="0">
                <a:highlight>
                  <a:srgbClr val="FFCC66"/>
                </a:highlight>
              </a:rPr>
              <a:t>키 만들기 클릭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pic>
        <p:nvPicPr>
          <p:cNvPr id="18" name="그림 17" descr="いろいろな表情のプラカードを持っている男性看護師のイラスト ...">
            <a:extLst>
              <a:ext uri="{FF2B5EF4-FFF2-40B4-BE49-F238E27FC236}">
                <a16:creationId xmlns:a16="http://schemas.microsoft.com/office/drawing/2014/main" id="{D25C4E84-7BB6-6185-AA9A-19C8040B7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93" y="4689961"/>
            <a:ext cx="1600143" cy="2091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C07D115-E44B-44E1-36C3-D711BA7F407A}"/>
              </a:ext>
            </a:extLst>
          </p:cNvPr>
          <p:cNvSpPr txBox="1"/>
          <p:nvPr/>
        </p:nvSpPr>
        <p:spPr>
          <a:xfrm>
            <a:off x="10260928" y="4850656"/>
            <a:ext cx="1632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API </a:t>
            </a:r>
            <a:r>
              <a:rPr lang="ko-KR" altLang="en-US" sz="2000" b="1" dirty="0"/>
              <a:t>발급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끝 </a:t>
            </a:r>
            <a:r>
              <a:rPr lang="en-US" altLang="ko-KR" sz="2000" b="1" dirty="0"/>
              <a:t>!!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8536F-5E73-00E4-7747-5917F1BE33F1}"/>
              </a:ext>
            </a:extLst>
          </p:cNvPr>
          <p:cNvSpPr txBox="1"/>
          <p:nvPr/>
        </p:nvSpPr>
        <p:spPr>
          <a:xfrm>
            <a:off x="2131665" y="5455356"/>
            <a:ext cx="301279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CC"/>
                </a:highlight>
              </a:rPr>
              <a:t>개인정보가 너무 많아</a:t>
            </a:r>
            <a:endParaRPr lang="en-US" altLang="ko-KR" sz="1900" b="1" dirty="0">
              <a:highlight>
                <a:srgbClr val="FFCCCC"/>
              </a:highlight>
            </a:endParaRPr>
          </a:p>
          <a:p>
            <a:pPr algn="ctr"/>
            <a:r>
              <a:rPr lang="ko-KR" altLang="en-US" sz="1900" b="1" dirty="0" err="1">
                <a:highlight>
                  <a:srgbClr val="FFCCCC"/>
                </a:highlight>
              </a:rPr>
              <a:t>캡처본</a:t>
            </a:r>
            <a:r>
              <a:rPr lang="ko-KR" altLang="en-US" sz="1900" b="1" dirty="0">
                <a:highlight>
                  <a:srgbClr val="FFCCCC"/>
                </a:highlight>
              </a:rPr>
              <a:t> 최소화</a:t>
            </a:r>
          </a:p>
        </p:txBody>
      </p:sp>
    </p:spTree>
    <p:extLst>
      <p:ext uri="{BB962C8B-B14F-4D97-AF65-F5344CB8AC3E}">
        <p14:creationId xmlns:p14="http://schemas.microsoft.com/office/powerpoint/2010/main" val="3465991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6425-A791-59A8-C190-474FF458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34B3368-A4EE-4AA1-627C-894A597A6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70" y="833352"/>
            <a:ext cx="9319260" cy="5723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EF8EA5-7D55-EF64-2C7B-FDD430983F06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78D9B-F93D-5C3F-EDFC-1FB72213523C}"/>
              </a:ext>
            </a:extLst>
          </p:cNvPr>
          <p:cNvSpPr txBox="1"/>
          <p:nvPr/>
        </p:nvSpPr>
        <p:spPr>
          <a:xfrm>
            <a:off x="3047938" y="1925771"/>
            <a:ext cx="36615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 dirty="0" err="1">
                <a:highlight>
                  <a:srgbClr val="FFCC66"/>
                </a:highlight>
              </a:rPr>
              <a:t>Supabase</a:t>
            </a:r>
            <a:r>
              <a:rPr lang="en-US" altLang="ko-KR" sz="2500" b="1" dirty="0">
                <a:highlight>
                  <a:srgbClr val="FFCC66"/>
                </a:highlight>
              </a:rPr>
              <a:t> </a:t>
            </a:r>
            <a:r>
              <a:rPr lang="ko-KR" altLang="en-US" sz="2500" b="1" dirty="0">
                <a:highlight>
                  <a:srgbClr val="FFCC66"/>
                </a:highlight>
              </a:rPr>
              <a:t>로그인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7501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6C5D-51CF-87BE-573D-2D1266A4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CCD279-65A7-F787-B51C-EFCBDD01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20" y="1155944"/>
            <a:ext cx="10625559" cy="5223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AEFC7-AEE9-F599-F670-3867FCAE428E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E8066-7D08-1F80-D6E3-65D7D7B02FFD}"/>
              </a:ext>
            </a:extLst>
          </p:cNvPr>
          <p:cNvSpPr txBox="1"/>
          <p:nvPr/>
        </p:nvSpPr>
        <p:spPr>
          <a:xfrm>
            <a:off x="642571" y="3236639"/>
            <a:ext cx="36615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 err="1">
                <a:highlight>
                  <a:srgbClr val="FFCC66"/>
                </a:highlight>
              </a:rPr>
              <a:t>Organizaition</a:t>
            </a:r>
            <a:r>
              <a:rPr lang="en-US" altLang="ko-KR" sz="2500" b="1" dirty="0">
                <a:highlight>
                  <a:srgbClr val="FFCC66"/>
                </a:highlight>
              </a:rPr>
              <a:t> </a:t>
            </a:r>
            <a:r>
              <a:rPr lang="ko-KR" altLang="en-US" sz="2500" b="1" dirty="0">
                <a:highlight>
                  <a:srgbClr val="FFCC66"/>
                </a:highlight>
              </a:rPr>
              <a:t>생성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1916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1A5E-BDD5-5C8C-6F92-E708523D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D618892-6807-95CA-87EE-C191C432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02" r="32096"/>
          <a:stretch>
            <a:fillRect/>
          </a:stretch>
        </p:blipFill>
        <p:spPr>
          <a:xfrm>
            <a:off x="7203877" y="1088022"/>
            <a:ext cx="4116742" cy="5305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09173-DE02-DA20-59EC-B50F1D34B1C1}"/>
              </a:ext>
            </a:extLst>
          </p:cNvPr>
          <p:cNvSpPr txBox="1"/>
          <p:nvPr/>
        </p:nvSpPr>
        <p:spPr>
          <a:xfrm>
            <a:off x="424328" y="322739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ECA30-1D85-4AE2-DA49-29FFB3336775}"/>
              </a:ext>
            </a:extLst>
          </p:cNvPr>
          <p:cNvSpPr txBox="1"/>
          <p:nvPr/>
        </p:nvSpPr>
        <p:spPr>
          <a:xfrm>
            <a:off x="871381" y="3236639"/>
            <a:ext cx="504961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① </a:t>
            </a:r>
            <a:r>
              <a:rPr lang="en-US" altLang="ko-KR" sz="1900" b="1" dirty="0">
                <a:highlight>
                  <a:srgbClr val="FFCC66"/>
                </a:highlight>
              </a:rPr>
              <a:t>Project name </a:t>
            </a:r>
            <a:r>
              <a:rPr lang="ko-KR" altLang="en-US" sz="1900" b="1" dirty="0">
                <a:highlight>
                  <a:srgbClr val="FFCC66"/>
                </a:highlight>
              </a:rPr>
              <a:t>은 </a:t>
            </a:r>
            <a:r>
              <a:rPr lang="en-US" altLang="ko-KR" sz="1900" b="1" dirty="0" err="1">
                <a:highlight>
                  <a:srgbClr val="FFCC66"/>
                </a:highlight>
              </a:rPr>
              <a:t>SnapSplit</a:t>
            </a:r>
            <a:r>
              <a:rPr lang="ko-KR" altLang="en-US" sz="1900" b="1" dirty="0">
                <a:highlight>
                  <a:srgbClr val="FFCC66"/>
                </a:highlight>
              </a:rPr>
              <a:t> 으로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4B3100-E481-BC3E-CBA6-FD4E96613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67" r="25962" b="48923"/>
          <a:stretch>
            <a:fillRect/>
          </a:stretch>
        </p:blipFill>
        <p:spPr>
          <a:xfrm>
            <a:off x="424328" y="819340"/>
            <a:ext cx="5793246" cy="2039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212A6B-0BA2-9BCB-9E06-497E49C13A9D}"/>
              </a:ext>
            </a:extLst>
          </p:cNvPr>
          <p:cNvSpPr txBox="1"/>
          <p:nvPr/>
        </p:nvSpPr>
        <p:spPr>
          <a:xfrm>
            <a:off x="1262580" y="2306261"/>
            <a:ext cx="411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Ⓞ 프로젝트 생성</a:t>
            </a:r>
            <a:endParaRPr lang="en-US" altLang="ko-KR" sz="2000" b="1" dirty="0">
              <a:highlight>
                <a:srgbClr val="FFCC66"/>
              </a:highligh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2A88B0-97C2-6831-8209-D7F7178C9E85}"/>
              </a:ext>
            </a:extLst>
          </p:cNvPr>
          <p:cNvSpPr/>
          <p:nvPr/>
        </p:nvSpPr>
        <p:spPr>
          <a:xfrm>
            <a:off x="2183112" y="1525755"/>
            <a:ext cx="1562582" cy="2430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C4985027-BC3E-BA78-47F3-4365EA73C6F7}"/>
              </a:ext>
            </a:extLst>
          </p:cNvPr>
          <p:cNvSpPr/>
          <p:nvPr/>
        </p:nvSpPr>
        <p:spPr>
          <a:xfrm>
            <a:off x="4637440" y="2292576"/>
            <a:ext cx="1052801" cy="413795"/>
          </a:xfrm>
          <a:prstGeom prst="frame">
            <a:avLst>
              <a:gd name="adj1" fmla="val 14648"/>
            </a:avLst>
          </a:prstGeom>
          <a:solidFill>
            <a:srgbClr val="E62121"/>
          </a:solidFill>
          <a:ln>
            <a:solidFill>
              <a:srgbClr val="E6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DFBE17-3D40-ED03-77B5-37AF0E2758BA}"/>
              </a:ext>
            </a:extLst>
          </p:cNvPr>
          <p:cNvSpPr txBox="1"/>
          <p:nvPr/>
        </p:nvSpPr>
        <p:spPr>
          <a:xfrm>
            <a:off x="871381" y="3926297"/>
            <a:ext cx="504961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② </a:t>
            </a:r>
            <a:r>
              <a:rPr lang="en-US" altLang="ko-KR" sz="1900" b="1" dirty="0">
                <a:highlight>
                  <a:srgbClr val="FFCC66"/>
                </a:highlight>
              </a:rPr>
              <a:t>Database</a:t>
            </a:r>
            <a:r>
              <a:rPr lang="ko-KR" altLang="en-US" sz="1900" b="1" dirty="0">
                <a:highlight>
                  <a:srgbClr val="FFCC66"/>
                </a:highlight>
              </a:rPr>
              <a:t> </a:t>
            </a:r>
            <a:r>
              <a:rPr lang="en-US" altLang="ko-KR" sz="1900" b="1" dirty="0">
                <a:highlight>
                  <a:srgbClr val="FFCC66"/>
                </a:highlight>
              </a:rPr>
              <a:t>password </a:t>
            </a:r>
            <a:r>
              <a:rPr lang="ko-KR" altLang="en-US" sz="1900" b="1" dirty="0">
                <a:highlight>
                  <a:srgbClr val="FFCC66"/>
                </a:highlight>
              </a:rPr>
              <a:t>설정 및 복사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3B293-1D6F-FE63-1B46-6BE463716079}"/>
              </a:ext>
            </a:extLst>
          </p:cNvPr>
          <p:cNvSpPr txBox="1"/>
          <p:nvPr/>
        </p:nvSpPr>
        <p:spPr>
          <a:xfrm>
            <a:off x="796142" y="4615955"/>
            <a:ext cx="504961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③ 지역을 대한민국 서울로 설정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1958323-4AF0-7FF1-4A14-FB1177E1F12E}"/>
              </a:ext>
            </a:extLst>
          </p:cNvPr>
          <p:cNvCxnSpPr/>
          <p:nvPr/>
        </p:nvCxnSpPr>
        <p:spPr>
          <a:xfrm flipV="1">
            <a:off x="5379322" y="3067291"/>
            <a:ext cx="2202096" cy="361708"/>
          </a:xfrm>
          <a:prstGeom prst="line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A3F28D4-B32D-01BB-FEC1-C417996591F1}"/>
              </a:ext>
            </a:extLst>
          </p:cNvPr>
          <p:cNvCxnSpPr>
            <a:cxnSpLocks/>
          </p:cNvCxnSpPr>
          <p:nvPr/>
        </p:nvCxnSpPr>
        <p:spPr>
          <a:xfrm flipV="1">
            <a:off x="5423770" y="3621360"/>
            <a:ext cx="2157648" cy="497297"/>
          </a:xfrm>
          <a:prstGeom prst="line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E150B5-3087-8DF1-28D9-A15CEBBFBE38}"/>
              </a:ext>
            </a:extLst>
          </p:cNvPr>
          <p:cNvCxnSpPr>
            <a:cxnSpLocks/>
          </p:cNvCxnSpPr>
          <p:nvPr/>
        </p:nvCxnSpPr>
        <p:spPr>
          <a:xfrm flipV="1">
            <a:off x="5069711" y="4179607"/>
            <a:ext cx="2511707" cy="628708"/>
          </a:xfrm>
          <a:prstGeom prst="line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697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3D04-1D5C-5EA6-15ED-CC4D162B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B641AFA-64EF-566C-3EFB-26764C8DC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970"/>
            <a:ext cx="12192000" cy="5318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FA5FF-B4B3-1FB8-69D6-1C99B0C9B199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674A8-8E33-27ED-B4BC-20DA3521AA97}"/>
              </a:ext>
            </a:extLst>
          </p:cNvPr>
          <p:cNvSpPr txBox="1"/>
          <p:nvPr/>
        </p:nvSpPr>
        <p:spPr>
          <a:xfrm>
            <a:off x="4638094" y="1763725"/>
            <a:ext cx="36615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①</a:t>
            </a:r>
            <a:r>
              <a:rPr lang="en-US" altLang="ko-KR" sz="2500" b="1" dirty="0" err="1">
                <a:highlight>
                  <a:srgbClr val="FFCC66"/>
                </a:highlight>
              </a:rPr>
              <a:t>Supabase</a:t>
            </a:r>
            <a:r>
              <a:rPr lang="en-US" altLang="ko-KR" sz="2500" b="1" dirty="0">
                <a:highlight>
                  <a:srgbClr val="FFCC66"/>
                </a:highlight>
              </a:rPr>
              <a:t> </a:t>
            </a:r>
            <a:r>
              <a:rPr lang="en-US" altLang="ko-KR" sz="2500" b="1" dirty="0" err="1">
                <a:highlight>
                  <a:srgbClr val="FFCC66"/>
                </a:highlight>
              </a:rPr>
              <a:t>url</a:t>
            </a:r>
            <a:r>
              <a:rPr lang="en-US" altLang="ko-KR" sz="2500" b="1" dirty="0">
                <a:highlight>
                  <a:srgbClr val="FFCC66"/>
                </a:highlight>
              </a:rPr>
              <a:t> </a:t>
            </a:r>
            <a:r>
              <a:rPr lang="ko-KR" altLang="en-US" sz="2500" b="1" dirty="0">
                <a:highlight>
                  <a:srgbClr val="FFCC66"/>
                </a:highlight>
              </a:rPr>
              <a:t>복사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CA423-C394-C9EB-3B19-FE8DB607DB02}"/>
              </a:ext>
            </a:extLst>
          </p:cNvPr>
          <p:cNvSpPr txBox="1"/>
          <p:nvPr/>
        </p:nvSpPr>
        <p:spPr>
          <a:xfrm>
            <a:off x="3563577" y="769970"/>
            <a:ext cx="3661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② </a:t>
            </a:r>
            <a:r>
              <a:rPr lang="en-US" altLang="ko-KR" sz="2000" b="1" dirty="0" err="1">
                <a:highlight>
                  <a:srgbClr val="FFCC66"/>
                </a:highlight>
              </a:rPr>
              <a:t>Supabase</a:t>
            </a:r>
            <a:r>
              <a:rPr lang="ko-KR" altLang="en-US" sz="2000" b="1" dirty="0">
                <a:highlight>
                  <a:srgbClr val="FFCC66"/>
                </a:highlight>
              </a:rPr>
              <a:t> 연결을 위해</a:t>
            </a:r>
            <a:endParaRPr lang="en-US" altLang="ko-KR" sz="20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000" b="1" dirty="0">
                <a:highlight>
                  <a:srgbClr val="FFCC66"/>
                </a:highlight>
              </a:rPr>
              <a:t>정보 확인 탭으로 이동</a:t>
            </a:r>
            <a:endParaRPr lang="en-US" altLang="ko-KR" sz="2000" b="1" dirty="0">
              <a:highlight>
                <a:srgbClr val="FFCC6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3753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BE1A-BEA0-4D87-704F-EF6804B8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5B34FC-4072-FCC3-04E5-8F97CAC19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29" y="986196"/>
            <a:ext cx="5858288" cy="5607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C3795-88C2-631F-84F5-50D01043B0B3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F080A9-763A-3AFB-863B-F90CF861A09D}"/>
              </a:ext>
            </a:extLst>
          </p:cNvPr>
          <p:cNvSpPr txBox="1"/>
          <p:nvPr/>
        </p:nvSpPr>
        <p:spPr>
          <a:xfrm>
            <a:off x="5598288" y="1556996"/>
            <a:ext cx="36615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① </a:t>
            </a:r>
            <a:r>
              <a:rPr lang="en-US" altLang="ko-KR" sz="2500" b="1" dirty="0">
                <a:highlight>
                  <a:srgbClr val="FFCC66"/>
                </a:highlight>
              </a:rPr>
              <a:t>Direct </a:t>
            </a:r>
            <a:r>
              <a:rPr lang="ko-KR" altLang="en-US" sz="2500" b="1" dirty="0">
                <a:highlight>
                  <a:srgbClr val="FFCC66"/>
                </a:highlight>
              </a:rPr>
              <a:t>클릭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FAD03-0906-BE80-CF7C-9F006A52C029}"/>
              </a:ext>
            </a:extLst>
          </p:cNvPr>
          <p:cNvSpPr txBox="1"/>
          <p:nvPr/>
        </p:nvSpPr>
        <p:spPr>
          <a:xfrm>
            <a:off x="6282617" y="3190473"/>
            <a:ext cx="36615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② </a:t>
            </a:r>
            <a:r>
              <a:rPr lang="en-US" altLang="ko-KR" sz="2500" b="1" dirty="0">
                <a:highlight>
                  <a:srgbClr val="FFCC66"/>
                </a:highlight>
              </a:rPr>
              <a:t>Session pooler </a:t>
            </a:r>
            <a:r>
              <a:rPr lang="ko-KR" altLang="en-US" sz="2500" b="1" dirty="0">
                <a:highlight>
                  <a:srgbClr val="FFCC66"/>
                </a:highlight>
              </a:rPr>
              <a:t>선택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E8F7F-2AAE-46AA-69D2-00795A46CA48}"/>
              </a:ext>
            </a:extLst>
          </p:cNvPr>
          <p:cNvSpPr txBox="1"/>
          <p:nvPr/>
        </p:nvSpPr>
        <p:spPr>
          <a:xfrm>
            <a:off x="6152561" y="5980374"/>
            <a:ext cx="561511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③ </a:t>
            </a:r>
            <a:r>
              <a:rPr lang="en-US" altLang="ko-KR" sz="2500" b="1" dirty="0">
                <a:highlight>
                  <a:srgbClr val="FFCC66"/>
                </a:highlight>
              </a:rPr>
              <a:t>host</a:t>
            </a:r>
            <a:r>
              <a:rPr lang="ko-KR" altLang="en-US" sz="2500" b="1" dirty="0">
                <a:highlight>
                  <a:srgbClr val="FFCC66"/>
                </a:highlight>
              </a:rPr>
              <a:t>와 </a:t>
            </a:r>
            <a:r>
              <a:rPr lang="en-US" altLang="ko-KR" sz="2500" b="1" dirty="0">
                <a:highlight>
                  <a:srgbClr val="FFCC66"/>
                </a:highlight>
              </a:rPr>
              <a:t>user </a:t>
            </a:r>
            <a:r>
              <a:rPr lang="ko-KR" altLang="en-US" sz="2500" b="1" dirty="0">
                <a:highlight>
                  <a:srgbClr val="FFCC66"/>
                </a:highlight>
              </a:rPr>
              <a:t>내용을 확인 및 복사</a:t>
            </a:r>
            <a:endParaRPr lang="en-US" altLang="ko-KR" sz="2500" b="1" dirty="0">
              <a:highlight>
                <a:srgbClr val="FFCC66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3544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15AF-F349-D0EC-E89B-A22017816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5189BE0-76F8-C997-C307-9C7D596C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395" y="752872"/>
            <a:ext cx="9383210" cy="5841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4159AA-A647-2062-4D18-29CF7C3982F3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1F3BB-A2EC-E5ED-743E-6D25D3ACB62C}"/>
              </a:ext>
            </a:extLst>
          </p:cNvPr>
          <p:cNvSpPr txBox="1"/>
          <p:nvPr/>
        </p:nvSpPr>
        <p:spPr>
          <a:xfrm>
            <a:off x="0" y="5363452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① </a:t>
            </a:r>
            <a:r>
              <a:rPr lang="en-US" altLang="ko-KR" sz="1900" b="1" dirty="0">
                <a:highlight>
                  <a:srgbClr val="FFCC66"/>
                </a:highlight>
              </a:rPr>
              <a:t>Organization Settings </a:t>
            </a:r>
            <a:r>
              <a:rPr lang="ko-KR" altLang="en-US" sz="1900" b="1" dirty="0">
                <a:highlight>
                  <a:srgbClr val="FFCC66"/>
                </a:highlight>
              </a:rPr>
              <a:t>클릭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5D129-B0A4-ACB2-0EA6-BFD04B33DF1C}"/>
              </a:ext>
            </a:extLst>
          </p:cNvPr>
          <p:cNvSpPr txBox="1"/>
          <p:nvPr/>
        </p:nvSpPr>
        <p:spPr>
          <a:xfrm>
            <a:off x="0" y="2110243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② </a:t>
            </a:r>
            <a:r>
              <a:rPr lang="en-US" altLang="ko-KR" sz="1900" b="1" dirty="0">
                <a:highlight>
                  <a:srgbClr val="FFCC66"/>
                </a:highlight>
              </a:rPr>
              <a:t>Settings</a:t>
            </a:r>
            <a:r>
              <a:rPr lang="ko-KR" altLang="en-US" sz="1900" b="1" dirty="0">
                <a:highlight>
                  <a:srgbClr val="FFCC66"/>
                </a:highlight>
              </a:rPr>
              <a:t>의 </a:t>
            </a:r>
            <a:r>
              <a:rPr lang="en-US" altLang="ko-KR" sz="1900" b="1" dirty="0">
                <a:highlight>
                  <a:srgbClr val="FFCC66"/>
                </a:highlight>
              </a:rPr>
              <a:t>API Keys </a:t>
            </a:r>
            <a:r>
              <a:rPr lang="ko-KR" altLang="en-US" sz="1900" b="1" dirty="0">
                <a:highlight>
                  <a:srgbClr val="FFCC66"/>
                </a:highlight>
              </a:rPr>
              <a:t>클릭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81950-C7EB-E053-FB57-8CBDBD7CB6D7}"/>
              </a:ext>
            </a:extLst>
          </p:cNvPr>
          <p:cNvSpPr txBox="1"/>
          <p:nvPr/>
        </p:nvSpPr>
        <p:spPr>
          <a:xfrm>
            <a:off x="4751369" y="1325094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③ </a:t>
            </a:r>
            <a:r>
              <a:rPr lang="en-US" altLang="ko-KR" sz="1900" b="1" dirty="0" err="1">
                <a:highlight>
                  <a:srgbClr val="FFCC66"/>
                </a:highlight>
              </a:rPr>
              <a:t>supabase</a:t>
            </a:r>
            <a:r>
              <a:rPr lang="en-US" altLang="ko-KR" sz="1900" b="1" dirty="0">
                <a:highlight>
                  <a:srgbClr val="FFCC66"/>
                </a:highlight>
              </a:rPr>
              <a:t> </a:t>
            </a:r>
            <a:r>
              <a:rPr lang="en-US" altLang="ko-KR" sz="1900" b="1" dirty="0" err="1">
                <a:highlight>
                  <a:srgbClr val="FFCC66"/>
                </a:highlight>
              </a:rPr>
              <a:t>api</a:t>
            </a:r>
            <a:r>
              <a:rPr lang="en-US" altLang="ko-KR" sz="1900" b="1" dirty="0">
                <a:highlight>
                  <a:srgbClr val="FFCC66"/>
                </a:highlight>
              </a:rPr>
              <a:t> key </a:t>
            </a:r>
            <a:r>
              <a:rPr lang="ko-KR" altLang="en-US" sz="1900" b="1" dirty="0">
                <a:highlight>
                  <a:srgbClr val="FFCC66"/>
                </a:highlight>
              </a:rPr>
              <a:t>확인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90CEB8-0EF8-F066-93CC-FDE7884BDB39}"/>
              </a:ext>
            </a:extLst>
          </p:cNvPr>
          <p:cNvSpPr txBox="1"/>
          <p:nvPr/>
        </p:nvSpPr>
        <p:spPr>
          <a:xfrm>
            <a:off x="3661533" y="4132774"/>
            <a:ext cx="366153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④ </a:t>
            </a:r>
            <a:r>
              <a:rPr lang="en-US" altLang="ko-KR" sz="1900" b="1" dirty="0" err="1">
                <a:highlight>
                  <a:srgbClr val="FFCC66"/>
                </a:highlight>
              </a:rPr>
              <a:t>supabase</a:t>
            </a:r>
            <a:r>
              <a:rPr lang="en-US" altLang="ko-KR" sz="1900" b="1" dirty="0">
                <a:highlight>
                  <a:srgbClr val="FFCC66"/>
                </a:highlight>
              </a:rPr>
              <a:t> </a:t>
            </a:r>
            <a:r>
              <a:rPr lang="en-US" altLang="ko-KR" sz="1900" b="1" dirty="0" err="1">
                <a:highlight>
                  <a:srgbClr val="FFCC66"/>
                </a:highlight>
              </a:rPr>
              <a:t>api</a:t>
            </a:r>
            <a:r>
              <a:rPr lang="en-US" altLang="ko-KR" sz="1900" b="1" dirty="0">
                <a:highlight>
                  <a:srgbClr val="FFCC66"/>
                </a:highlight>
              </a:rPr>
              <a:t> key </a:t>
            </a:r>
            <a:r>
              <a:rPr lang="ko-KR" altLang="en-US" sz="1900" b="1" dirty="0">
                <a:highlight>
                  <a:srgbClr val="FFCC66"/>
                </a:highlight>
              </a:rPr>
              <a:t>복사</a:t>
            </a:r>
            <a:endParaRPr lang="en-US" altLang="ko-KR" sz="1900" b="1" dirty="0">
              <a:highlight>
                <a:srgbClr val="FFCC66"/>
              </a:highlight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426E766-C98A-ECAD-1277-9514D3BA701F}"/>
              </a:ext>
            </a:extLst>
          </p:cNvPr>
          <p:cNvCxnSpPr/>
          <p:nvPr/>
        </p:nvCxnSpPr>
        <p:spPr>
          <a:xfrm>
            <a:off x="4930815" y="3009417"/>
            <a:ext cx="0" cy="1134319"/>
          </a:xfrm>
          <a:prstGeom prst="line">
            <a:avLst/>
          </a:prstGeom>
          <a:ln w="38100">
            <a:solidFill>
              <a:srgbClr val="E621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128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CFA4-86D3-2A5F-BC06-2C655B7A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CD4592A-7B2F-2710-2859-A940CD71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60" y="1609725"/>
            <a:ext cx="7162800" cy="3638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FE9273-EFCF-0DCC-F995-6307FCE2A8DF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supabase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B86F56-81E1-4A55-B679-6FC5733BC2AC}"/>
              </a:ext>
            </a:extLst>
          </p:cNvPr>
          <p:cNvSpPr txBox="1"/>
          <p:nvPr/>
        </p:nvSpPr>
        <p:spPr>
          <a:xfrm>
            <a:off x="6809710" y="2548796"/>
            <a:ext cx="572567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나중에 필요한 것들이라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복사한 것들을 전부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메모장에 정리한다</a:t>
            </a:r>
            <a:r>
              <a:rPr lang="en-US" altLang="ko-KR" sz="2500" b="1" dirty="0">
                <a:highlight>
                  <a:srgbClr val="FFCC66"/>
                </a:highlight>
              </a:rPr>
              <a:t>.</a:t>
            </a:r>
          </a:p>
        </p:txBody>
      </p:sp>
      <p:pic>
        <p:nvPicPr>
          <p:cNvPr id="5" name="그림 4" descr="いろいろな表情のプラカードを持っている男性看護師のイラスト ...">
            <a:extLst>
              <a:ext uri="{FF2B5EF4-FFF2-40B4-BE49-F238E27FC236}">
                <a16:creationId xmlns:a16="http://schemas.microsoft.com/office/drawing/2014/main" id="{8D571F22-39EF-00C4-7114-00066044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93" y="4689961"/>
            <a:ext cx="1600143" cy="2091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E54FDE-5605-FA49-3773-7127D49943AD}"/>
              </a:ext>
            </a:extLst>
          </p:cNvPr>
          <p:cNvSpPr txBox="1"/>
          <p:nvPr/>
        </p:nvSpPr>
        <p:spPr>
          <a:xfrm>
            <a:off x="10260928" y="4850656"/>
            <a:ext cx="1632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/>
              <a:t>Supabase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세팅 끝 </a:t>
            </a:r>
            <a:r>
              <a:rPr lang="en-US" altLang="ko-KR" sz="2000" b="1" dirty="0"/>
              <a:t>!!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43459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A703-E71E-AA08-BAA8-FD40B7946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E294372-F20A-0C2F-8177-D43B5B74E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99" y="1127909"/>
            <a:ext cx="8086846" cy="5311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0AC3D-6720-8833-B29F-CA110A4A12B6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ngrok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B3169-6962-03F5-E75C-4F4A91C200FD}"/>
              </a:ext>
            </a:extLst>
          </p:cNvPr>
          <p:cNvSpPr txBox="1"/>
          <p:nvPr/>
        </p:nvSpPr>
        <p:spPr>
          <a:xfrm>
            <a:off x="-899029" y="4159991"/>
            <a:ext cx="57256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↑위 링크에서 자신의 </a:t>
            </a:r>
            <a:r>
              <a:rPr lang="en-US" altLang="ko-KR" sz="1900" b="1" dirty="0" err="1">
                <a:highlight>
                  <a:srgbClr val="FFCC66"/>
                </a:highlight>
              </a:rPr>
              <a:t>os</a:t>
            </a:r>
            <a:r>
              <a:rPr lang="ko-KR" altLang="en-US" sz="1900" b="1" dirty="0">
                <a:highlight>
                  <a:srgbClr val="FFCC66"/>
                </a:highlight>
              </a:rPr>
              <a:t>에 맞게</a:t>
            </a:r>
            <a:endParaRPr lang="en-US" altLang="ko-KR" sz="19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1900" b="1" dirty="0">
                <a:highlight>
                  <a:srgbClr val="FFCC66"/>
                </a:highlight>
              </a:rPr>
              <a:t>설치를 해준다</a:t>
            </a:r>
            <a:r>
              <a:rPr lang="en-US" altLang="ko-KR" sz="1900" b="1" dirty="0">
                <a:highlight>
                  <a:srgbClr val="FFCC66"/>
                </a:highlight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02351-08A6-073B-C254-344634ABD363}"/>
              </a:ext>
            </a:extLst>
          </p:cNvPr>
          <p:cNvSpPr txBox="1"/>
          <p:nvPr/>
        </p:nvSpPr>
        <p:spPr>
          <a:xfrm>
            <a:off x="96455" y="3696062"/>
            <a:ext cx="654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https://ngrok.com/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1F84E-F89D-248C-C0BF-D856493DA5B9}"/>
              </a:ext>
            </a:extLst>
          </p:cNvPr>
          <p:cNvSpPr txBox="1"/>
          <p:nvPr/>
        </p:nvSpPr>
        <p:spPr>
          <a:xfrm>
            <a:off x="457408" y="1842733"/>
            <a:ext cx="301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CCCC"/>
                </a:highlight>
              </a:rPr>
              <a:t>Ngrok</a:t>
            </a:r>
            <a:r>
              <a:rPr lang="en-US" altLang="ko-KR" sz="1900" b="1" dirty="0">
                <a:highlight>
                  <a:srgbClr val="FFCCCC"/>
                </a:highlight>
              </a:rPr>
              <a:t> : localhost</a:t>
            </a:r>
            <a:r>
              <a:rPr lang="ko-KR" altLang="en-US" sz="1900" b="1" dirty="0">
                <a:highlight>
                  <a:srgbClr val="FFCCCC"/>
                </a:highlight>
              </a:rPr>
              <a:t>를</a:t>
            </a:r>
            <a:endParaRPr lang="en-US" altLang="ko-KR" sz="1900" b="1" dirty="0">
              <a:highlight>
                <a:srgbClr val="FFCCCC"/>
              </a:highlight>
            </a:endParaRPr>
          </a:p>
          <a:p>
            <a:pPr algn="ctr"/>
            <a:r>
              <a:rPr lang="ko-KR" altLang="en-US" sz="1900" b="1" dirty="0">
                <a:highlight>
                  <a:srgbClr val="FFCCCC"/>
                </a:highlight>
              </a:rPr>
              <a:t>무료로 외부 호스팅 할 수 있는 도구</a:t>
            </a:r>
          </a:p>
        </p:txBody>
      </p:sp>
    </p:spTree>
    <p:extLst>
      <p:ext uri="{BB962C8B-B14F-4D97-AF65-F5344CB8AC3E}">
        <p14:creationId xmlns:p14="http://schemas.microsoft.com/office/powerpoint/2010/main" val="2499702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D3A7-2654-BC42-9D76-96BA965AA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A81FD-7354-ED3B-7A63-0A3B86CED8D0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ngrok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7BE189-8319-7D62-DDAD-661ED7078EC4}"/>
              </a:ext>
            </a:extLst>
          </p:cNvPr>
          <p:cNvSpPr txBox="1"/>
          <p:nvPr/>
        </p:nvSpPr>
        <p:spPr>
          <a:xfrm>
            <a:off x="6809710" y="2548796"/>
            <a:ext cx="572567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나중에 필요한 것들이라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복사한 것들을 전부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메모장에 정리한다</a:t>
            </a:r>
            <a:r>
              <a:rPr lang="en-US" altLang="ko-KR" sz="2500" b="1" dirty="0">
                <a:highlight>
                  <a:srgbClr val="FFCC66"/>
                </a:highlight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7B43EF-E7BD-2078-7AA3-01809CB3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501"/>
            <a:ext cx="12192000" cy="617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58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E57D-CB01-725C-5DC3-6D761067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9854CC-0C8D-899F-BEE9-604D79F54184}"/>
              </a:ext>
            </a:extLst>
          </p:cNvPr>
          <p:cNvSpPr txBox="1"/>
          <p:nvPr/>
        </p:nvSpPr>
        <p:spPr>
          <a:xfrm>
            <a:off x="424329" y="263870"/>
            <a:ext cx="7759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4.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백엔드</a:t>
            </a:r>
            <a:r>
              <a:rPr lang="ko-KR" altLang="en-US" sz="2000" b="1" dirty="0"/>
              <a:t> 개발 과정 </a:t>
            </a:r>
            <a:r>
              <a:rPr lang="en-US" altLang="ko-KR" sz="2000" b="1" dirty="0"/>
              <a:t>– </a:t>
            </a:r>
            <a:r>
              <a:rPr lang="en-US" altLang="ko-KR" sz="2000" b="1" dirty="0" err="1">
                <a:highlight>
                  <a:srgbClr val="0099CC"/>
                </a:highlight>
              </a:rPr>
              <a:t>ngrok</a:t>
            </a:r>
            <a:r>
              <a:rPr lang="en-US" altLang="ko-KR" sz="2000" b="1" dirty="0">
                <a:highlight>
                  <a:srgbClr val="0099CC"/>
                </a:highlight>
              </a:rPr>
              <a:t> </a:t>
            </a:r>
            <a:r>
              <a:rPr lang="ko-KR" altLang="en-US" sz="2000" b="1" dirty="0">
                <a:highlight>
                  <a:srgbClr val="0099CC"/>
                </a:highlight>
              </a:rPr>
              <a:t>세팅</a:t>
            </a:r>
            <a:endParaRPr lang="en-US" altLang="ko-KR" sz="2000" b="1" dirty="0">
              <a:highlight>
                <a:srgbClr val="0099CC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6976A-72E2-1AB8-1943-AA3FCDBFAB5C}"/>
              </a:ext>
            </a:extLst>
          </p:cNvPr>
          <p:cNvSpPr txBox="1"/>
          <p:nvPr/>
        </p:nvSpPr>
        <p:spPr>
          <a:xfrm>
            <a:off x="6809710" y="2548796"/>
            <a:ext cx="572567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나중에 필요한 것들이라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복사한 것들을 전부</a:t>
            </a:r>
            <a:endParaRPr lang="en-US" altLang="ko-KR" sz="2500" b="1" dirty="0">
              <a:highlight>
                <a:srgbClr val="FFCC66"/>
              </a:highlight>
            </a:endParaRPr>
          </a:p>
          <a:p>
            <a:pPr algn="ctr"/>
            <a:r>
              <a:rPr lang="ko-KR" altLang="en-US" sz="2500" b="1" dirty="0">
                <a:highlight>
                  <a:srgbClr val="FFCC66"/>
                </a:highlight>
              </a:rPr>
              <a:t>메모장에 정리한다</a:t>
            </a:r>
            <a:r>
              <a:rPr lang="en-US" altLang="ko-KR" sz="2500" b="1" dirty="0">
                <a:highlight>
                  <a:srgbClr val="FFCC66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075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3112-781F-91B0-633E-A6A08AE1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13B585-B1E7-1E2B-C878-F8D6B7E73812}"/>
              </a:ext>
            </a:extLst>
          </p:cNvPr>
          <p:cNvSpPr txBox="1"/>
          <p:nvPr/>
        </p:nvSpPr>
        <p:spPr>
          <a:xfrm>
            <a:off x="424329" y="263870"/>
            <a:ext cx="5519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/>
              <a:t>출처</a:t>
            </a:r>
            <a:endParaRPr lang="ko-KR" altLang="en-US" sz="3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FC8EC-5030-F871-5BF0-0FAA3E3DF5AE}"/>
              </a:ext>
            </a:extLst>
          </p:cNvPr>
          <p:cNvSpPr txBox="1"/>
          <p:nvPr/>
        </p:nvSpPr>
        <p:spPr>
          <a:xfrm>
            <a:off x="2103310" y="2099599"/>
            <a:ext cx="79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hlinkClick r:id="rId2"/>
              </a:rPr>
              <a:t>스프링과 </a:t>
            </a:r>
            <a:r>
              <a:rPr lang="ko-KR" altLang="en-US" b="1" dirty="0" err="1">
                <a:hlinkClick r:id="rId2"/>
              </a:rPr>
              <a:t>스프링부트</a:t>
            </a:r>
            <a:r>
              <a:rPr lang="en-US" altLang="ko-KR" b="1" dirty="0">
                <a:hlinkClick r:id="rId2"/>
              </a:rPr>
              <a:t>(Spring Boot)</a:t>
            </a:r>
            <a:r>
              <a:rPr lang="ko-KR" altLang="en-US" b="1" dirty="0" err="1">
                <a:hlinkClick r:id="rId2"/>
              </a:rPr>
              <a:t>ㅣ정의</a:t>
            </a:r>
            <a:r>
              <a:rPr lang="en-US" altLang="ko-KR" b="1" dirty="0">
                <a:hlinkClick r:id="rId2"/>
              </a:rPr>
              <a:t>, </a:t>
            </a:r>
            <a:r>
              <a:rPr lang="ko-KR" altLang="en-US" b="1" dirty="0">
                <a:hlinkClick r:id="rId2"/>
              </a:rPr>
              <a:t>특징</a:t>
            </a:r>
            <a:r>
              <a:rPr lang="en-US" altLang="ko-KR" b="1" dirty="0">
                <a:hlinkClick r:id="rId2"/>
              </a:rPr>
              <a:t>, </a:t>
            </a:r>
            <a:r>
              <a:rPr lang="ko-KR" altLang="en-US" b="1" dirty="0">
                <a:hlinkClick r:id="rId2"/>
              </a:rPr>
              <a:t>사용 이유</a:t>
            </a:r>
            <a:r>
              <a:rPr lang="en-US" altLang="ko-KR" b="1" dirty="0">
                <a:hlinkClick r:id="rId2"/>
              </a:rPr>
              <a:t>, </a:t>
            </a:r>
            <a:r>
              <a:rPr lang="ko-KR" altLang="en-US" b="1" dirty="0">
                <a:hlinkClick r:id="rId2"/>
              </a:rPr>
              <a:t>생성 방법</a:t>
            </a:r>
            <a:endParaRPr lang="ko-KR" altLang="en-US" sz="3000" dirty="0"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724B9CE1-E4AB-C8A6-E5C5-62473C4AF488}"/>
              </a:ext>
            </a:extLst>
          </p:cNvPr>
          <p:cNvSpPr txBox="1"/>
          <p:nvPr/>
        </p:nvSpPr>
        <p:spPr>
          <a:xfrm>
            <a:off x="2103310" y="2468931"/>
            <a:ext cx="798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b="1" dirty="0">
                <a:hlinkClick r:id="rId3"/>
              </a:rPr>
              <a:t>스프링 </a:t>
            </a:r>
            <a:r>
              <a:rPr lang="en-US" altLang="ko-KR" b="1" dirty="0">
                <a:hlinkClick r:id="rId3"/>
              </a:rPr>
              <a:t>vs </a:t>
            </a:r>
            <a:r>
              <a:rPr lang="ko-KR" altLang="en-US" b="1" dirty="0">
                <a:hlinkClick r:id="rId3"/>
              </a:rPr>
              <a:t>스프링 부트 차이점과 </a:t>
            </a:r>
            <a:r>
              <a:rPr lang="en-US" altLang="ko-KR" b="1" dirty="0">
                <a:hlinkClick r:id="rId3"/>
              </a:rPr>
              <a:t>Spring Boot </a:t>
            </a:r>
            <a:r>
              <a:rPr lang="ko-KR" altLang="en-US" b="1" dirty="0">
                <a:hlinkClick r:id="rId3"/>
              </a:rPr>
              <a:t>핵심 개념 </a:t>
            </a:r>
            <a:r>
              <a:rPr lang="en-US" altLang="ko-KR" b="1" dirty="0">
                <a:hlinkClick r:id="rId3"/>
              </a:rPr>
              <a:t>3</a:t>
            </a:r>
            <a:r>
              <a:rPr lang="ko-KR" altLang="en-US" b="1" dirty="0">
                <a:hlinkClick r:id="rId3"/>
              </a:rPr>
              <a:t>가지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088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2649</TotalTime>
  <Words>889</Words>
  <Application>Microsoft Office PowerPoint</Application>
  <PresentationFormat>와이드스크린</PresentationFormat>
  <Paragraphs>181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주은 황</dc:creator>
  <cp:lastModifiedBy>주은 황</cp:lastModifiedBy>
  <cp:revision>1</cp:revision>
  <dcterms:created xsi:type="dcterms:W3CDTF">2026-05-17T09:47:37Z</dcterms:created>
  <dcterms:modified xsi:type="dcterms:W3CDTF">2026-05-19T05:57:33Z</dcterms:modified>
</cp:coreProperties>
</file>